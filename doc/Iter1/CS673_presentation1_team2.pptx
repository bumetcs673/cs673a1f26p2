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21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image" Target="../media/image2.jpeg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image" Target="../media/image3.png"/><Relationship Id="rId2" Type="http://schemas.openxmlformats.org/officeDocument/2006/relationships/tags" Target="../tags/tag1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tags" Target="../tags/tag54.xml"/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image" Target="../media/image4.jpeg"/><Relationship Id="rId2" Type="http://schemas.openxmlformats.org/officeDocument/2006/relationships/tags" Target="../tags/tag49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60.xml"/><Relationship Id="rId7" Type="http://schemas.openxmlformats.org/officeDocument/2006/relationships/tags" Target="../tags/tag59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image" Target="../media/image1.png"/><Relationship Id="rId2" Type="http://schemas.openxmlformats.org/officeDocument/2006/relationships/tags" Target="../tags/tag55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组-1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duotone>
              <a:prstClr val="black"/>
              <a:schemeClr val="accent1">
                <a:lumMod val="20000"/>
                <a:lumOff val="80000"/>
                <a:tint val="45000"/>
                <a:satMod val="400000"/>
              </a:schemeClr>
            </a:duotone>
            <a:lum bright="6000" contrast="12000"/>
          </a:blip>
          <a:stretch>
            <a:fillRect/>
          </a:stretch>
        </p:blipFill>
        <p:spPr>
          <a:xfrm flipH="1">
            <a:off x="-12700" y="635"/>
            <a:ext cx="12204700" cy="6870065"/>
          </a:xfrm>
          <a:prstGeom prst="rect">
            <a:avLst/>
          </a:prstGeom>
        </p:spPr>
      </p:pic>
      <p:sp>
        <p:nvSpPr>
          <p:cNvPr id="9" name="副标题"/>
          <p:cNvSpPr txBox="1">
            <a:spLocks noGrp="1"/>
          </p:cNvSpPr>
          <p:nvPr>
            <p:ph type="body" idx="3" hasCustomPrompt="1"/>
            <p:custDataLst>
              <p:tags r:id="rId4"/>
            </p:custDataLst>
          </p:nvPr>
        </p:nvSpPr>
        <p:spPr>
          <a:xfrm>
            <a:off x="809624" y="2974340"/>
            <a:ext cx="7553325" cy="499110"/>
          </a:xfrm>
          <a:prstGeom prst="rect">
            <a:avLst/>
          </a:prstGeom>
          <a:noFill/>
        </p:spPr>
        <p:txBody>
          <a:bodyPr wrap="square" lIns="91440" tIns="0" rIns="91440" bIns="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400" b="0" i="0" u="none" strike="noStrike" kern="1200" cap="none" spc="0" normalizeH="0" baseline="0" noProof="1" dirty="0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lin ang="5400000" scaled="0"/>
                </a:gra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lnSpc>
                <a:spcPct val="100000"/>
              </a:lnSpc>
              <a:buClrTx/>
              <a:buSzTx/>
              <a:buFontTx/>
            </a:pPr>
            <a:r>
              <a:rPr dirty="0">
                <a:sym typeface="+mn-ea"/>
              </a:rPr>
              <a:t>单击编辑副标题</a:t>
            </a:r>
            <a:endParaRPr dirty="0">
              <a:sym typeface="+mn-ea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2" hasCustomPrompt="1"/>
            <p:custDataLst>
              <p:tags r:id="rId5"/>
            </p:custDataLst>
          </p:nvPr>
        </p:nvSpPr>
        <p:spPr>
          <a:xfrm>
            <a:off x="810260" y="2022475"/>
            <a:ext cx="7553325" cy="997585"/>
          </a:xfrm>
          <a:prstGeom prst="rect">
            <a:avLst/>
          </a:prstGeom>
          <a:noFill/>
        </p:spPr>
        <p:txBody>
          <a:bodyPr wrap="square" lIns="91440" tIns="0" rIns="91440" bIns="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90000"/>
              </a:lnSpc>
              <a:buClrTx/>
              <a:buSzTx/>
              <a:buFontTx/>
              <a:buNone/>
              <a:defRPr kumimoji="0" lang="zh-CN" altLang="en-US" sz="6600" b="0" i="0" u="none" strike="noStrike" kern="1200" cap="none" spc="0" normalizeH="0" baseline="0" noProof="1" dirty="0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lin ang="5400000" scaled="0"/>
                </a:gra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lnSpc>
                <a:spcPct val="90000"/>
              </a:lnSpc>
              <a:buClrTx/>
              <a:buSzTx/>
              <a:buFontTx/>
            </a:pPr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署名"/>
          <p:cNvSpPr txBox="1"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901065" y="3779520"/>
            <a:ext cx="1831340" cy="49085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/>
              </a:gs>
              <a:gs pos="70000">
                <a:schemeClr val="accent1"/>
              </a:gs>
            </a:gsLst>
            <a:lin ang="5400000" scaled="0"/>
          </a:gradFill>
        </p:spPr>
        <p:txBody>
          <a:bodyPr wrap="square" lIns="91440" tIns="0" rIns="91440" bIns="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400" b="0" i="0" u="none" strike="noStrike" kern="1200" cap="none" spc="0" normalizeH="0" baseline="0" noProof="1" dirty="0">
                <a:solidFill>
                  <a:srgbClr val="FFFFFF"/>
                </a:soli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zh-CN" altLang="en-US" dirty="0">
                <a:sym typeface="+mn-ea"/>
              </a:rPr>
              <a:t>署名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文"/>
          <p:cNvSpPr txBox="1"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1239981"/>
            <a:ext cx="10800000" cy="5009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sym typeface="+mn-ea"/>
              </a:defRPr>
            </a:lvl1pPr>
            <a:lvl2pPr>
              <a:defRPr lang="zh-CN" altLang="en-US" dirty="0">
                <a:sym typeface="+mn-ea"/>
              </a:defRPr>
            </a:lvl2pPr>
            <a:lvl3pPr>
              <a:defRPr lang="zh-CN" altLang="en-US" dirty="0">
                <a:sym typeface="+mn-ea"/>
              </a:defRPr>
            </a:lvl3pPr>
            <a:lvl4pPr>
              <a:defRPr lang="zh-CN" altLang="en-US" dirty="0">
                <a:sym typeface="+mn-ea"/>
              </a:defRPr>
            </a:lvl4pPr>
            <a:lvl5pPr>
              <a:defRPr lang="zh-CN" altLang="en-US" dirty="0">
                <a:sym typeface="+mn-ea"/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单击此处编辑母版文本样式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第二级</a:t>
            </a:r>
            <a:endParaRPr lang="zh-CN" altLang="en-US" dirty="0">
              <a:sym typeface="+mn-ea"/>
            </a:endParaRPr>
          </a:p>
          <a:p>
            <a:pPr lvl="2"/>
            <a:r>
              <a:rPr lang="zh-CN" altLang="en-US" dirty="0">
                <a:sym typeface="+mn-ea"/>
              </a:rPr>
              <a:t>第三级</a:t>
            </a:r>
            <a:endParaRPr lang="zh-CN" altLang="en-US" dirty="0">
              <a:sym typeface="+mn-ea"/>
            </a:endParaRPr>
          </a:p>
          <a:p>
            <a:pPr lvl="3"/>
            <a:r>
              <a:rPr lang="zh-CN" altLang="en-US" dirty="0">
                <a:sym typeface="+mn-ea"/>
              </a:rPr>
              <a:t>第四级</a:t>
            </a:r>
            <a:endParaRPr lang="zh-CN" altLang="en-US" dirty="0">
              <a:sym typeface="+mn-ea"/>
            </a:endParaRPr>
          </a:p>
          <a:p>
            <a:pPr lvl="4"/>
            <a:r>
              <a:rPr lang="zh-CN" altLang="en-US" dirty="0">
                <a:sym typeface="+mn-ea"/>
              </a:rPr>
              <a:t>第五级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图片 46" descr="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duotone>
              <a:prstClr val="black"/>
              <a:schemeClr val="accent1">
                <a:lumMod val="20000"/>
                <a:lumOff val="80000"/>
                <a:tint val="45000"/>
                <a:satMod val="400000"/>
              </a:schemeClr>
            </a:duotone>
            <a:lum bright="6000" contrast="12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标题"/>
          <p:cNvSpPr txBox="1">
            <a:spLocks noGrp="1"/>
          </p:cNvSpPr>
          <p:nvPr>
            <p:ph type="title" idx="2" hasCustomPrompt="1"/>
            <p:custDataLst>
              <p:tags r:id="rId4"/>
            </p:custDataLst>
          </p:nvPr>
        </p:nvSpPr>
        <p:spPr>
          <a:xfrm>
            <a:off x="817245" y="345364"/>
            <a:ext cx="1860550" cy="94043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1200"/>
              </a:spcAft>
              <a:buClrTx/>
              <a:buSzTx/>
              <a:buFontTx/>
              <a:buNone/>
              <a:defRPr kumimoji="0" lang="zh-CN" altLang="en-US" sz="6000" b="0" i="0" u="none" strike="noStrike" kern="1200" cap="none" spc="0" normalizeH="0" baseline="0" noProof="1" dirty="0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lin ang="5400000" scaled="0"/>
                </a:gradFill>
                <a:effectLst/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indent="0" algn="l" fontAlgn="auto">
              <a:lnSpc>
                <a:spcPct val="100000"/>
              </a:lnSpc>
              <a:spcAft>
                <a:spcPts val="1200"/>
              </a:spcAft>
              <a:buClrTx/>
              <a:buSzTx/>
              <a:buFontTx/>
            </a:pPr>
            <a:r>
              <a:rPr>
                <a:sym typeface="+mn-ea"/>
              </a:rPr>
              <a:t>标题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xiezuo20230421-20485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duotone>
              <a:prstClr val="black"/>
              <a:schemeClr val="accent1">
                <a:lumMod val="20000"/>
                <a:lumOff val="80000"/>
                <a:tint val="45000"/>
                <a:satMod val="400000"/>
              </a:schemeClr>
            </a:duotone>
            <a:lum bright="6000" contrast="12000"/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节编号"/>
          <p:cNvSpPr txBox="1">
            <a:spLocks noGrp="1"/>
          </p:cNvSpPr>
          <p:nvPr>
            <p:ph type="body" idx="2" hasCustomPrompt="1"/>
            <p:custDataLst>
              <p:tags r:id="rId4"/>
            </p:custDataLst>
          </p:nvPr>
        </p:nvSpPr>
        <p:spPr>
          <a:xfrm>
            <a:off x="860425" y="1739900"/>
            <a:ext cx="4920615" cy="168529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lvl="0" algn="l" defTabSz="914400" rtl="0" eaLnBrk="1" fontAlgn="ctr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11500" b="0" i="0" u="none" strike="noStrike" kern="1200" cap="none" spc="0" normalizeH="0" baseline="0" noProof="1" dirty="0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lin ang="5400000" scaled="0"/>
                  <a:tileRect t="-100000" r="-100000"/>
                </a:gra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 fontAlgn="ctr">
              <a:lnSpc>
                <a:spcPct val="100000"/>
              </a:lnSpc>
              <a:buClrTx/>
              <a:buSzTx/>
              <a:buFontTx/>
            </a:pPr>
            <a:r>
              <a:rPr>
                <a:sym typeface="+mn-ea"/>
              </a:rPr>
              <a:t>编号</a:t>
            </a:r>
            <a:endParaRPr>
              <a:sym typeface="+mn-ea"/>
            </a:endParaRPr>
          </a:p>
        </p:txBody>
      </p:sp>
      <p:sp>
        <p:nvSpPr>
          <p:cNvPr id="7" name="副标题"/>
          <p:cNvSpPr txBox="1">
            <a:spLocks noGrp="1"/>
          </p:cNvSpPr>
          <p:nvPr>
            <p:ph type="title" idx="1" hasCustomPrompt="1"/>
            <p:custDataLst>
              <p:tags r:id="rId5"/>
            </p:custDataLst>
          </p:nvPr>
        </p:nvSpPr>
        <p:spPr>
          <a:xfrm>
            <a:off x="860425" y="3432175"/>
            <a:ext cx="4919980" cy="1707515"/>
          </a:xfrm>
          <a:prstGeom prst="rect">
            <a:avLst/>
          </a:prstGeom>
          <a:noFill/>
        </p:spPr>
        <p:txBody>
          <a:bodyPr wrap="square" lIns="91440" tIns="45720" rIns="91440" bIns="45720" rtlCol="0" anchor="t" anchorCtr="0">
            <a:normAutofit/>
          </a:bodyPr>
          <a:lstStyle>
            <a:lvl1pPr marL="0" marR="0" lvl="0" algn="l" defTabSz="914400" rtl="0" eaLnBrk="1" fontAlgn="ctr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4000" b="0" i="0" u="none" strike="noStrike" kern="1200" cap="none" spc="0" normalizeH="0" baseline="0" noProof="1" dirty="0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lin ang="5400000" scaled="0"/>
                </a:gra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 fontAlgn="ctr">
              <a:buClrTx/>
              <a:buSzTx/>
              <a:buFontTx/>
            </a:pPr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两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文"/>
          <p:cNvSpPr txBox="1">
            <a:spLocks noGrp="1"/>
          </p:cNvSpPr>
          <p:nvPr>
            <p:ph idx="2"/>
            <p:custDataLst>
              <p:tags r:id="rId2"/>
            </p:custDataLst>
          </p:nvPr>
        </p:nvSpPr>
        <p:spPr>
          <a:xfrm>
            <a:off x="6400800" y="1267690"/>
            <a:ext cx="5095240" cy="4981979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/>
            <a:lvl7pPr/>
            <a:lvl8pPr/>
            <a:lvl9pPr/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8" name="正文"/>
          <p:cNvSpPr txBox="1"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95960" y="1267690"/>
            <a:ext cx="5088890" cy="4981979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/>
            <a:lvl7pPr/>
            <a:lvl8pPr/>
            <a:lvl9pPr/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标题和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"/>
          <p:cNvSpPr txBox="1">
            <a:spLocks noGrp="1"/>
          </p:cNvSpPr>
          <p:nvPr>
            <p:ph type="title" idx="5"/>
            <p:custDataLst>
              <p:tags r:id="rId2"/>
            </p:custDataLst>
          </p:nvPr>
        </p:nvSpPr>
        <p:spPr>
          <a:xfrm>
            <a:off x="694800" y="360000"/>
            <a:ext cx="10800000" cy="720000"/>
          </a:xfrm>
          <a:prstGeom prst="rect">
            <a:avLst/>
          </a:prstGeom>
          <a:noFill/>
        </p:spPr>
        <p:txBody>
          <a:bodyPr wrap="square" lIns="107950" t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800" b="0" i="0" u="none" strike="noStrike" kern="1200" cap="none" spc="0" normalizeH="0" baseline="0" noProof="1" dirty="0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lin ang="5400000" scaled="0"/>
                </a:gra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13" name="正文"/>
          <p:cNvSpPr txBox="1">
            <a:spLocks noGrp="1"/>
          </p:cNvSpPr>
          <p:nvPr>
            <p:ph idx="4"/>
            <p:custDataLst>
              <p:tags r:id="rId3"/>
            </p:custDataLst>
          </p:nvPr>
        </p:nvSpPr>
        <p:spPr>
          <a:xfrm>
            <a:off x="6235065" y="1875183"/>
            <a:ext cx="5259735" cy="4374488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MiSans Normal" panose="00000500000000000000" charset="-122"/>
                <a:ea typeface="MiSans Normal" panose="00000500000000000000" charset="-122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MiSans Normal" panose="00000500000000000000" charset="-122"/>
                <a:ea typeface="MiSans Normal" panose="00000500000000000000" charset="-122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MiSans Normal" panose="00000500000000000000" charset="-122"/>
                <a:ea typeface="MiSans Normal" panose="00000500000000000000" charset="-122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MiSans Normal" panose="00000500000000000000" charset="-122"/>
                <a:ea typeface="MiSans Normal" panose="00000500000000000000" charset="-122"/>
              </a:defRPr>
            </a:lvl5pPr>
            <a:lvl6pPr/>
            <a:lvl7pPr/>
            <a:lvl8pPr/>
            <a:lvl9pPr/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12" name="标题"/>
          <p:cNvSpPr txBox="1">
            <a:spLocks noGrp="1"/>
          </p:cNvSpPr>
          <p:nvPr>
            <p:ph type="title" idx="3"/>
            <p:custDataLst>
              <p:tags r:id="rId4"/>
            </p:custDataLst>
          </p:nvPr>
        </p:nvSpPr>
        <p:spPr>
          <a:xfrm>
            <a:off x="6235065" y="1144730"/>
            <a:ext cx="5262135" cy="592455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panose="00000500000000000000" charset="-122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11" name="正文"/>
          <p:cNvSpPr txBox="1">
            <a:spLocks noGrp="1"/>
          </p:cNvSpPr>
          <p:nvPr>
            <p:ph idx="2"/>
            <p:custDataLst>
              <p:tags r:id="rId5"/>
            </p:custDataLst>
          </p:nvPr>
        </p:nvSpPr>
        <p:spPr>
          <a:xfrm>
            <a:off x="697200" y="1875183"/>
            <a:ext cx="5253385" cy="4374488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/>
            <a:lvl7pPr/>
            <a:lvl8pPr/>
            <a:lvl9pPr/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10" name="标题"/>
          <p:cNvSpPr txBox="1">
            <a:spLocks noGrp="1"/>
          </p:cNvSpPr>
          <p:nvPr>
            <p:ph type="title" idx="1"/>
            <p:custDataLst>
              <p:tags r:id="rId6"/>
            </p:custDataLst>
          </p:nvPr>
        </p:nvSpPr>
        <p:spPr>
          <a:xfrm>
            <a:off x="694800" y="1144730"/>
            <a:ext cx="5255785" cy="592455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panose="00000500000000000000" charset="-122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文"/>
          <p:cNvSpPr txBox="1"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rgbClr val="000000"/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rgbClr val="000000"/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rgbClr val="000000"/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rgbClr val="000000"/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rgbClr val="000000"/>
                </a:solidFill>
                <a:uFillTx/>
                <a:latin typeface="+mn-ea"/>
                <a:ea typeface="+mn-ea"/>
              </a:defRPr>
            </a:lvl5pPr>
            <a:lvl6pPr/>
            <a:lvl7pPr/>
            <a:lvl8pPr/>
            <a:lvl9pPr/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duotone>
              <a:prstClr val="black"/>
              <a:schemeClr val="accent1">
                <a:lumMod val="20000"/>
                <a:lumOff val="80000"/>
                <a:tint val="45000"/>
                <a:satMod val="400000"/>
              </a:schemeClr>
            </a:duotone>
            <a:lum bright="6000" contrast="12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4"/>
            </p:custDataLst>
          </p:nvPr>
        </p:nvSpPr>
        <p:spPr>
          <a:xfrm>
            <a:off x="695960" y="1301750"/>
            <a:ext cx="10799088" cy="405553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0" i="0" u="none" strike="noStrike" kern="1200" cap="none" spc="300" normalizeH="0" baseline="0" noProof="1" dirty="0">
                <a:solidFill>
                  <a:srgbClr val="000000"/>
                </a:solidFill>
                <a:latin typeface="+mj-ea"/>
                <a:ea typeface="+mj-ea"/>
                <a:cs typeface="MiSans Normal" panose="00000500000000000000" charset="-122"/>
              </a:defRPr>
            </a:lvl1pPr>
          </a:lstStyle>
          <a:p>
            <a:pPr lvl="0" algn="l"/>
            <a:r>
              <a:rPr dirty="0">
                <a:sym typeface="+mn-ea"/>
              </a:rPr>
              <a:t>单击此处编辑母版副标题样式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末尾幻灯片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组-1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duotone>
              <a:prstClr val="black"/>
              <a:schemeClr val="accent1">
                <a:lumMod val="20000"/>
                <a:lumOff val="80000"/>
                <a:tint val="45000"/>
                <a:satMod val="400000"/>
              </a:schemeClr>
            </a:duotone>
            <a:lum bright="6000" contrast="12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副标题"/>
          <p:cNvSpPr txBox="1">
            <a:spLocks noGrp="1"/>
          </p:cNvSpPr>
          <p:nvPr>
            <p:ph type="title" idx="2" hasCustomPrompt="1"/>
            <p:custDataLst>
              <p:tags r:id="rId4"/>
            </p:custDataLst>
          </p:nvPr>
        </p:nvSpPr>
        <p:spPr>
          <a:xfrm>
            <a:off x="4982845" y="2521585"/>
            <a:ext cx="6259830" cy="89281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algn="r" defTabSz="914400" rtl="0" eaLnBrk="1" fontAlgn="auto" latinLnBrk="0" hangingPunct="1">
              <a:lnSpc>
                <a:spcPct val="110000"/>
              </a:lnSpc>
              <a:buClrTx/>
              <a:buSzTx/>
              <a:buFontTx/>
              <a:buNone/>
              <a:defRPr kumimoji="0" lang="en-US" altLang="zh-CN" sz="6665" b="0" i="0" u="none" strike="noStrike" kern="1200" cap="none" spc="0" normalizeH="0" baseline="0" noProof="1" dirty="0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lin ang="5400000" scaled="0"/>
                </a:gra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r">
              <a:lnSpc>
                <a:spcPct val="110000"/>
              </a:lnSpc>
              <a:buClrTx/>
              <a:buSzTx/>
              <a:buFontTx/>
            </a:pPr>
            <a:r>
              <a:rPr>
                <a:sym typeface="+mn-ea"/>
              </a:rPr>
              <a:t>单击编辑标题</a:t>
            </a:r>
            <a:endParaRPr>
              <a:sym typeface="+mn-ea"/>
            </a:endParaRPr>
          </a:p>
        </p:txBody>
      </p:sp>
      <p:sp>
        <p:nvSpPr>
          <p:cNvPr id="7" name="署名"/>
          <p:cNvSpPr txBox="1">
            <a:spLocks noGrp="1"/>
          </p:cNvSpPr>
          <p:nvPr>
            <p:ph type="body" idx="1" hasCustomPrompt="1"/>
            <p:custDataLst>
              <p:tags r:id="rId5"/>
            </p:custDataLst>
          </p:nvPr>
        </p:nvSpPr>
        <p:spPr>
          <a:xfrm>
            <a:off x="9411335" y="3743960"/>
            <a:ext cx="1831340" cy="49085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/>
              </a:gs>
              <a:gs pos="70000">
                <a:schemeClr val="accent1"/>
              </a:gs>
            </a:gsLst>
            <a:lin ang="5400000" scaled="0"/>
          </a:gradFill>
        </p:spPr>
        <p:txBody>
          <a:bodyPr wrap="square" lIns="91440" tIns="0" rIns="91440" bIns="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400" b="1" i="0" u="none" strike="noStrike" kern="1200" cap="none" spc="0" normalizeH="0" baseline="0" noProof="1" dirty="0">
                <a:solidFill>
                  <a:srgbClr val="FFFFFF"/>
                </a:soli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zh-CN" altLang="en-US" dirty="0">
                <a:sym typeface="+mn-ea"/>
              </a:rPr>
              <a:t>署名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1" Type="http://schemas.openxmlformats.org/officeDocument/2006/relationships/theme" Target="../theme/theme2.xml"/><Relationship Id="rId20" Type="http://schemas.openxmlformats.org/officeDocument/2006/relationships/tags" Target="../tags/tag68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67.xml"/><Relationship Id="rId18" Type="http://schemas.openxmlformats.org/officeDocument/2006/relationships/tags" Target="../tags/tag66.xml"/><Relationship Id="rId17" Type="http://schemas.openxmlformats.org/officeDocument/2006/relationships/tags" Target="../tags/tag65.xml"/><Relationship Id="rId16" Type="http://schemas.openxmlformats.org/officeDocument/2006/relationships/tags" Target="../tags/tag64.xml"/><Relationship Id="rId15" Type="http://schemas.openxmlformats.org/officeDocument/2006/relationships/tags" Target="../tags/tag63.xml"/><Relationship Id="rId14" Type="http://schemas.openxmlformats.org/officeDocument/2006/relationships/tags" Target="../tags/tag62.xml"/><Relationship Id="rId13" Type="http://schemas.openxmlformats.org/officeDocument/2006/relationships/image" Target="../media/image4.jpeg"/><Relationship Id="rId12" Type="http://schemas.openxmlformats.org/officeDocument/2006/relationships/tags" Target="../tags/tag61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4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duotone>
              <a:prstClr val="black"/>
              <a:schemeClr val="accent1">
                <a:lumMod val="20000"/>
                <a:lumOff val="80000"/>
                <a:tint val="45000"/>
                <a:satMod val="400000"/>
              </a:schemeClr>
            </a:duotone>
            <a:lum bright="6000" contrast="12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日期占位符 8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>
            <a:lvl1pPr>
              <a:defRPr>
                <a:cs typeface="MiSans Normal" panose="00000500000000000000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cs typeface="MiSans Normal" panose="00000500000000000000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>
            <a:lvl1pPr>
              <a:defRPr>
                <a:cs typeface="MiSans Normal" panose="00000500000000000000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  <p:custDataLst>
              <p:tags r:id="rId17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</p:spPr>
        <p:txBody>
          <a:bodyPr vert="horz" wrap="square" lIns="107950" tIns="0" rIns="91440" bIns="0" rtlCol="0" anchor="b" anchorCtr="0">
            <a:normAutofit/>
          </a:bodyPr>
          <a:lstStyle/>
          <a:p>
            <a:pPr marL="0" marR="0" lvl="0">
              <a:buClrTx/>
              <a:buSzTx/>
              <a:buFontTx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idx="1"/>
            <p:custDataLst>
              <p:tags r:id="rId18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KSO_TEMPLATE" hidden="1"/>
          <p:cNvSpPr/>
          <p:nvPr userDrawn="1"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0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zh-CN" altLang="en-US" sz="3200" b="0" i="0" u="none" strike="noStrike" kern="1200" cap="none" spc="0" normalizeH="0" baseline="0" dirty="0" smtClean="0"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 scaled="0"/>
          </a:gradFill>
          <a:uFillTx/>
          <a:latin typeface="+mj-ea"/>
          <a:ea typeface="+mj-ea"/>
          <a:cs typeface="MiSans Normal" panose="00000500000000000000" charset="-122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kumimoji="0" lang="zh-CN" altLang="en-US" sz="1800" b="0" i="0" u="none" strike="noStrike" kern="1200" cap="none" spc="150" normalizeH="0" baseline="0">
          <a:ln>
            <a:noFill/>
            <a:prstDash val="sysDot"/>
          </a:ln>
          <a:solidFill>
            <a:srgbClr val="000000"/>
          </a:solidFill>
          <a:uFillTx/>
          <a:latin typeface="微软雅黑" panose="020B0503020204020204" charset="-122"/>
          <a:ea typeface="微软雅黑" panose="020B0503020204020204" charset="-122"/>
          <a:cs typeface="MiSans Normal" panose="00000500000000000000" charset="-122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</a:tabLst>
        <a:defRPr kumimoji="0" lang="zh-CN" altLang="en-US" sz="1600" b="0" i="0" u="none" strike="noStrike" kern="1200" cap="none" spc="150" normalizeH="0" baseline="0">
          <a:solidFill>
            <a:srgbClr val="000000"/>
          </a:solidFill>
          <a:uFillTx/>
          <a:latin typeface="微软雅黑" panose="020B0503020204020204" charset="-122"/>
          <a:ea typeface="微软雅黑" panose="020B0503020204020204" charset="-122"/>
          <a:cs typeface="MiSans Normal" panose="00000500000000000000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kumimoji="0" lang="zh-CN" altLang="en-US" sz="1600" b="0" i="0" u="none" strike="noStrike" kern="1200" cap="none" spc="150" normalizeH="0" baseline="0">
          <a:solidFill>
            <a:srgbClr val="000000"/>
          </a:solidFill>
          <a:uFillTx/>
          <a:latin typeface="微软雅黑" panose="020B0503020204020204" charset="-122"/>
          <a:ea typeface="微软雅黑" panose="020B0503020204020204" charset="-122"/>
          <a:cs typeface="MiSans Normal" panose="00000500000000000000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kumimoji="0" lang="zh-CN" altLang="en-US" sz="1600" b="0" i="0" u="none" strike="noStrike" kern="1200" cap="none" spc="150" normalizeH="0" baseline="0">
          <a:solidFill>
            <a:srgbClr val="000000"/>
          </a:solidFill>
          <a:uFillTx/>
          <a:latin typeface="微软雅黑" panose="020B0503020204020204" charset="-122"/>
          <a:ea typeface="微软雅黑" panose="020B0503020204020204" charset="-122"/>
          <a:cs typeface="MiSans Normal" panose="00000500000000000000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kumimoji="0" lang="zh-CN" altLang="en-US" sz="1600" b="0" i="0" u="none" strike="noStrike" kern="1200" cap="none" spc="150" normalizeH="0" baseline="0">
          <a:solidFill>
            <a:srgbClr val="000000"/>
          </a:solidFill>
          <a:uFillTx/>
          <a:latin typeface="微软雅黑" panose="020B0503020204020204" charset="-122"/>
          <a:ea typeface="微软雅黑" panose="020B0503020204020204" charset="-122"/>
          <a:cs typeface="MiSans Normal" panose="000005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tags" Target="../tags/tag74.xml"/><Relationship Id="rId1" Type="http://schemas.openxmlformats.org/officeDocument/2006/relationships/tags" Target="../tags/tag73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image" Target="../media/image7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tags" Target="../tags/tag83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" Type="http://schemas.openxmlformats.org/officeDocument/2006/relationships/tags" Target="../tags/tag8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tags" Target="../tags/tag90.xml"/><Relationship Id="rId1" Type="http://schemas.openxmlformats.org/officeDocument/2006/relationships/tags" Target="../tags/tag8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tags" Target="../tags/tag92.xml"/><Relationship Id="rId1" Type="http://schemas.openxmlformats.org/officeDocument/2006/relationships/tags" Target="../tags/tag9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占位符 7"/>
          <p:cNvSpPr>
            <a:spLocks noGrp="1"/>
          </p:cNvSpPr>
          <p:nvPr>
            <p:ph type="body" idx="3"/>
            <p:custDataLst>
              <p:tags r:id="rId1"/>
            </p:custDataLst>
          </p:nvPr>
        </p:nvSpPr>
        <p:spPr>
          <a:xfrm>
            <a:off x="810260" y="3020060"/>
            <a:ext cx="9511030" cy="499110"/>
          </a:xfrm>
        </p:spPr>
        <p:txBody>
          <a:bodyPr>
            <a:noAutofit/>
          </a:bodyPr>
          <a:lstStyle/>
          <a:p>
            <a:pPr marL="0" indent="-2286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ct val="100000"/>
            </a:pPr>
            <a:r>
              <a:rPr lang="en-US" altLang="zh-CN" sz="3200">
                <a:sym typeface="+mn-ea"/>
              </a:rPr>
              <a:t>A web app for arrivals and service alerts</a:t>
            </a:r>
            <a:endParaRPr lang="en-US" altLang="zh-CN" sz="3200">
              <a:sym typeface="+mn-ea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idx="2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>
                <a:solidFill>
                  <a:schemeClr val="tx1"/>
                </a:solidFill>
                <a:cs typeface="Arial" panose="020B0604020202020204" pitchFamily="34" charset="0"/>
                <a:sym typeface="+mn-ea"/>
              </a:rPr>
              <a:t>MBTA Tracker</a:t>
            </a:r>
            <a:endParaRPr lang="zh-CN" altLang="en-US"/>
          </a:p>
        </p:txBody>
      </p:sp>
      <p:sp>
        <p:nvSpPr>
          <p:cNvPr id="10" name="文本占位符 6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901065" y="3779520"/>
            <a:ext cx="4041775" cy="663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/>
              </a:gs>
              <a:gs pos="70000">
                <a:schemeClr val="accent1"/>
              </a:gs>
            </a:gsLst>
            <a:lin ang="5400000" scaled="0"/>
          </a:gradFill>
        </p:spPr>
        <p:txBody>
          <a:bodyPr>
            <a:normAutofit/>
          </a:bodyPr>
          <a:p>
            <a:r>
              <a:rPr lang="en-US" altLang="zh-CN" sz="2000"/>
              <a:t>Presentation Iteration 1</a:t>
            </a:r>
            <a:endParaRPr lang="en-US" altLang="zh-CN" sz="2000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95960" y="360045"/>
            <a:ext cx="10801985" cy="6182360"/>
          </a:xfrm>
        </p:spPr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zh-CN" sz="2400" b="1">
                <a:latin typeface="Times New Roman" panose="02020603050405020304" charset="0"/>
                <a:cs typeface="Times New Roman" panose="02020603050405020304" charset="0"/>
              </a:rPr>
              <a:t>Problem</a:t>
            </a:r>
            <a:endParaRPr lang="en-US" altLang="zh-CN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Commuters need reliable departure information before heading to a subway station.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Scheduled train times may differ from actual service conditions.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Service disruptions can affect travel plans.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zh-CN" sz="2400" b="1">
                <a:latin typeface="Times New Roman" panose="02020603050405020304" charset="0"/>
                <a:cs typeface="Times New Roman" panose="02020603050405020304" charset="0"/>
              </a:rPr>
              <a:t>Target Users</a:t>
            </a:r>
            <a:endParaRPr lang="en-US" altLang="zh-CN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Boston University students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Commuters along the Green Line B Branch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Visitors unfamiliar with local subway routes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zh-CN" sz="2400" b="1">
                <a:latin typeface="Times New Roman" panose="02020603050405020304" charset="0"/>
                <a:cs typeface="Times New Roman" panose="02020603050405020304" charset="0"/>
              </a:rPr>
              <a:t>Our Goal</a:t>
            </a:r>
            <a:endParaRPr lang="en-US" altLang="zh-CN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Help users plan their trips using MBTA departure predictions, route information, and service alerts.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l="5793" t="13910" r="8964" b="15968"/>
          <a:stretch>
            <a:fillRect/>
          </a:stretch>
        </p:blipFill>
        <p:spPr>
          <a:xfrm>
            <a:off x="5715000" y="3429000"/>
            <a:ext cx="5782945" cy="1988185"/>
          </a:xfrm>
          <a:prstGeom prst="rect">
            <a:avLst/>
          </a:prstGeom>
        </p:spPr>
      </p:pic>
      <p:sp>
        <p:nvSpPr>
          <p:cNvPr id="2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zh-CN" sz="2400" b="1">
                <a:latin typeface="Times New Roman" panose="02020603050405020304" charset="0"/>
                <a:cs typeface="Times New Roman" panose="02020603050405020304" charset="0"/>
              </a:rPr>
              <a:t>Current Scope</a:t>
            </a:r>
            <a:endParaRPr lang="en-US" altLang="zh-CN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Support Green Line B journeys between Boston College and Government Center.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Provide interactive route planning and visualization.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Display train predictions, arrival times, and service alerts.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zh-CN" sz="2400" b="1">
                <a:latin typeface="Times New Roman" panose="02020603050405020304" charset="0"/>
                <a:cs typeface="Times New Roman" panose="02020603050405020304" charset="0"/>
              </a:rPr>
              <a:t>Limitations</a:t>
            </a:r>
            <a:endParaRPr lang="en-US" altLang="zh-CN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Other subway lines are for map reference only.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No transfers between lines.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No user accounts or favorite stations.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l="75203"/>
          <a:stretch>
            <a:fillRect/>
          </a:stretch>
        </p:blipFill>
        <p:spPr>
          <a:xfrm>
            <a:off x="8474710" y="489585"/>
            <a:ext cx="3023235" cy="5878195"/>
          </a:xfrm>
          <a:prstGeom prst="rect">
            <a:avLst/>
          </a:prstGeom>
        </p:spPr>
      </p:pic>
      <p:sp>
        <p:nvSpPr>
          <p:cNvPr id="2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zh-CN" sz="2400" b="1">
                <a:latin typeface="Times New Roman" panose="02020603050405020304" charset="0"/>
                <a:cs typeface="Times New Roman" panose="02020603050405020304" charset="0"/>
              </a:rPr>
              <a:t>Journey: Boston University East to Washington Street</a:t>
            </a:r>
            <a:endParaRPr lang="en-US" altLang="zh-CN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The user selects Boston University East as the starting station.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The user selects Washington Street as the destination.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The user checks available departure information and service alerts 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before leaving.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zh-CN" sz="2400" b="1">
                <a:latin typeface="Times New Roman" panose="02020603050405020304" charset="0"/>
                <a:cs typeface="Times New Roman" panose="02020603050405020304" charset="0"/>
              </a:rPr>
              <a:t>Result</a:t>
            </a:r>
            <a:endParaRPr lang="en-US" altLang="zh-CN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A single interface provides the route and relevant transit information 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for the selected journey.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QQ20261026-0554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03930" y="2643505"/>
            <a:ext cx="7994015" cy="3534410"/>
          </a:xfrm>
          <a:prstGeom prst="rect">
            <a:avLst/>
          </a:prstGeom>
        </p:spPr>
      </p:pic>
      <p:sp>
        <p:nvSpPr>
          <p:cNvPr id="2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zh-CN" sz="2400" b="1">
                <a:latin typeface="Times New Roman" panose="02020603050405020304" charset="0"/>
                <a:cs typeface="Times New Roman" panose="02020603050405020304" charset="0"/>
              </a:rPr>
              <a:t>Interactive Subway Map</a:t>
            </a:r>
            <a:endParaRPr lang="en-US" altLang="zh-CN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Click stations directly on the map to select the starting point and destination.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Zoom, pan, and highlight the selected route.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zh-CN" sz="2400" b="1">
                <a:latin typeface="Times New Roman" panose="02020603050405020304" charset="0"/>
                <a:cs typeface="Times New Roman" panose="02020603050405020304" charset="0"/>
              </a:rPr>
              <a:t>Journey Planning</a:t>
            </a:r>
            <a:endParaRPr lang="en-US" altLang="zh-CN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Display travel direction and number of stops.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Swap starting and destination stations.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>
            <a:noAutofit/>
          </a:bodyPr>
          <a:p>
            <a:pPr marL="0" indent="0">
              <a:buNone/>
            </a:pPr>
            <a:r>
              <a:rPr lang="en-US" altLang="zh-CN" sz="2400" b="1">
                <a:latin typeface="Times New Roman" panose="02020603050405020304" charset="0"/>
                <a:cs typeface="Times New Roman" panose="02020603050405020304" charset="0"/>
              </a:rPr>
              <a:t>Frontend and </a:t>
            </a:r>
            <a:r>
              <a:rPr lang="en-US" altLang="zh-CN" sz="24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Backend</a:t>
            </a:r>
            <a:endParaRPr lang="en-US" altLang="zh-CN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React and Next.js provide the user interface.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Next.js API routes process requests for transit information.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Users interact with the subway map and journey planner through the browser.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The official MBTA V3 API provides routes, predictions, schedules, vehicle information, and service alerts.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zh-CN" sz="2400" b="1">
                <a:latin typeface="Times New Roman" panose="02020603050405020304" charset="0"/>
                <a:cs typeface="Times New Roman" panose="02020603050405020304" charset="0"/>
              </a:rPr>
              <a:t>Development Environment</a:t>
            </a:r>
            <a:endParaRPr lang="en-US" altLang="zh-CN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Node.js and npm for local development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GitHub for version control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Docker support for containerized deployment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8" name="表格 7"/>
          <p:cNvGraphicFramePr/>
          <p:nvPr>
            <p:custDataLst>
              <p:tags r:id="rId1"/>
            </p:custDataLst>
          </p:nvPr>
        </p:nvGraphicFramePr>
        <p:xfrm>
          <a:off x="695960" y="1172210"/>
          <a:ext cx="10802620" cy="3295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1310"/>
                <a:gridCol w="5401310"/>
              </a:tblGrid>
              <a:tr h="549275">
                <a:tc>
                  <a:txBody>
                    <a:bodyPr/>
                    <a:p>
                      <a:r>
                        <a:rPr lang="en-US" altLang="zh-CN" sz="24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Risk</a:t>
                      </a:r>
                      <a:endParaRPr lang="en-US" altLang="zh-CN" sz="24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24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Implemented Handling         </a:t>
                      </a:r>
                      <a:endParaRPr lang="en-US" altLang="zh-CN" sz="24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</a:tr>
              <a:tr h="549275">
                <a:tc>
                  <a:txBody>
                    <a:bodyPr/>
                    <a:p>
                      <a:r>
                        <a:rPr lang="en-US" altLang="zh-CN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API failures</a:t>
                      </a:r>
                      <a:endParaRPr lang="en-US" altLang="zh-CN"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Error messages and delayed retries</a:t>
                      </a:r>
                      <a:endParaRPr lang="en-US" altLang="zh-CN"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549275">
                <a:tc>
                  <a:txBody>
                    <a:bodyPr/>
                    <a:p>
                      <a:r>
                        <a:rPr lang="en-US" altLang="zh-CN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Rate limiting</a:t>
                      </a:r>
                      <a:endParaRPr lang="en-US" altLang="zh-CN"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Caching and request backoff</a:t>
                      </a:r>
                      <a:endParaRPr lang="en-US" altLang="zh-CN"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solidFill>
                      <a:schemeClr val="bg1"/>
                    </a:solidFill>
                  </a:tcPr>
                </a:tc>
              </a:tr>
              <a:tr h="549275">
                <a:tc>
                  <a:txBody>
                    <a:bodyPr/>
                    <a:p>
                      <a:r>
                        <a:rPr lang="en-US" altLang="zh-CN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Missing live predictions</a:t>
                      </a:r>
                      <a:endParaRPr lang="en-US" altLang="zh-CN"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Scheduled fallback when available</a:t>
                      </a:r>
                      <a:endParaRPr lang="en-US" altLang="zh-CN"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549275">
                <a:tc>
                  <a:txBody>
                    <a:bodyPr/>
                    <a:p>
                      <a:r>
                        <a:rPr lang="en-US" altLang="zh-CN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Outdated information</a:t>
                      </a:r>
                      <a:endParaRPr lang="en-US" altLang="zh-CN"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Timestamps and stale-data warnings</a:t>
                      </a:r>
                      <a:endParaRPr lang="en-US" altLang="zh-CN"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solidFill>
                      <a:schemeClr val="bg1"/>
                    </a:solidFill>
                  </a:tcPr>
                </a:tc>
              </a:tr>
              <a:tr h="549275">
                <a:tc>
                  <a:txBody>
                    <a:bodyPr/>
                    <a:p>
                      <a:r>
                        <a:rPr lang="en-US" altLang="zh-CN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Invalid journeys</a:t>
                      </a:r>
                      <a:endParaRPr lang="en-US" altLang="zh-CN"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Clear messages for unsupported routes</a:t>
                      </a:r>
                      <a:endParaRPr lang="en-US" altLang="zh-CN"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0" name="内容占位符 9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70040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zh-CN" sz="24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Risks and </a:t>
            </a:r>
            <a:r>
              <a:rPr lang="en-US" altLang="zh-CN" sz="24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Error Handling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" name="内容占位符 2"/>
          <p:cNvGraphicFramePr/>
          <p:nvPr>
            <p:ph idx="1"/>
            <p:custDataLst>
              <p:tags r:id="rId1"/>
            </p:custDataLst>
          </p:nvPr>
        </p:nvGraphicFramePr>
        <p:xfrm>
          <a:off x="695960" y="1104900"/>
          <a:ext cx="1080325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9100"/>
                <a:gridCol w="5155565"/>
                <a:gridCol w="2688590"/>
              </a:tblGrid>
              <a:tr h="582930">
                <a:tc>
                  <a:txBody>
                    <a:bodyPr/>
                    <a:p>
                      <a:r>
                        <a:rPr lang="en-US" altLang="zh-CN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Test Case</a:t>
                      </a:r>
                      <a:endParaRPr lang="en-US" altLang="zh-CN"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Expected Result</a:t>
                      </a:r>
                      <a:endParaRPr lang="en-US" altLang="zh-CN"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Status</a:t>
                      </a:r>
                      <a:endParaRPr lang="en-US" altLang="zh-CN"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solidFill>
                      <a:schemeClr val="tx1"/>
                    </a:solidFill>
                  </a:tcPr>
                </a:tc>
              </a:tr>
              <a:tr h="582930">
                <a:tc>
                  <a:txBody>
                    <a:bodyPr/>
                    <a:p>
                      <a:r>
                        <a:rPr lang="en-US" altLang="zh-CN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Application Startup</a:t>
                      </a:r>
                      <a:endParaRPr lang="en-US" altLang="zh-CN"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Application loads correctly</a:t>
                      </a:r>
                      <a:endParaRPr lang="en-US" altLang="zh-CN"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Passed</a:t>
                      </a:r>
                      <a:endParaRPr lang="en-US" altLang="zh-CN"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582930">
                <a:tc>
                  <a:txBody>
                    <a:bodyPr/>
                    <a:p>
                      <a:r>
                        <a:rPr lang="en-US" altLang="zh-CN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Station Selection</a:t>
                      </a:r>
                      <a:endParaRPr lang="en-US" altLang="zh-CN"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Correct </a:t>
                      </a:r>
                      <a:r>
                        <a:rPr lang="en-US" altLang="zh-CN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journey is displayed</a:t>
                      </a:r>
                      <a:endParaRPr lang="en-US" altLang="zh-CN"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Passed</a:t>
                      </a:r>
                      <a:endParaRPr lang="en-US" altLang="zh-CN"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solidFill>
                      <a:schemeClr val="bg1"/>
                    </a:solidFill>
                  </a:tcPr>
                </a:tc>
              </a:tr>
              <a:tr h="582930">
                <a:tc>
                  <a:txBody>
                    <a:bodyPr/>
                    <a:p>
                      <a:r>
                        <a:rPr lang="en-US" altLang="zh-CN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Map Interaction</a:t>
                      </a:r>
                      <a:endParaRPr lang="en-US" altLang="zh-CN"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Users can </a:t>
                      </a:r>
                      <a:r>
                        <a:rPr lang="en-US" altLang="zh-CN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select stations clearly</a:t>
                      </a:r>
                      <a:endParaRPr lang="en-US" altLang="zh-CN"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Needs Improvement</a:t>
                      </a:r>
                      <a:endParaRPr lang="en-US" altLang="zh-CN"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582930">
                <a:tc>
                  <a:txBody>
                    <a:bodyPr/>
                    <a:p>
                      <a:r>
                        <a:rPr lang="en-US" altLang="zh-CN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Route Visualization</a:t>
                      </a:r>
                      <a:endParaRPr lang="en-US" altLang="zh-CN"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Selected </a:t>
                      </a:r>
                      <a:r>
                        <a:rPr lang="en-US" altLang="zh-CN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route is highlighted</a:t>
                      </a:r>
                      <a:endParaRPr lang="en-US" altLang="zh-CN"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Passed</a:t>
                      </a:r>
                      <a:endParaRPr lang="en-US" altLang="zh-CN"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solidFill>
                      <a:schemeClr val="bg1"/>
                    </a:solidFill>
                  </a:tcPr>
                </a:tc>
              </a:tr>
              <a:tr h="582930">
                <a:tc>
                  <a:txBody>
                    <a:bodyPr/>
                    <a:p>
                      <a:r>
                        <a:rPr lang="en-US" altLang="zh-CN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Missing Predictions</a:t>
                      </a:r>
                      <a:endParaRPr lang="en-US" altLang="zh-CN"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Clear fallback </a:t>
                      </a:r>
                      <a:r>
                        <a:rPr lang="en-US" altLang="zh-CN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message is displayed</a:t>
                      </a:r>
                      <a:endParaRPr lang="en-US" altLang="zh-CN"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Passed</a:t>
                      </a:r>
                      <a:endParaRPr lang="en-US" altLang="zh-CN"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582930">
                <a:tc>
                  <a:txBody>
                    <a:bodyPr/>
                    <a:p>
                      <a:r>
                        <a:rPr lang="en-US" altLang="zh-CN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Automatic Refresh</a:t>
                      </a:r>
                      <a:endParaRPr lang="en-US" altLang="zh-CN"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Data refreshes </a:t>
                      </a:r>
                      <a:r>
                        <a:rPr lang="en-US" altLang="zh-CN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at expected intervals</a:t>
                      </a:r>
                      <a:endParaRPr lang="en-US" altLang="zh-CN"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Pending Verification</a:t>
                      </a:r>
                      <a:endParaRPr lang="en-US" altLang="zh-CN"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solidFill>
                      <a:schemeClr val="bg1"/>
                    </a:solidFill>
                  </a:tcPr>
                </a:tc>
              </a:tr>
              <a:tr h="582930">
                <a:tc>
                  <a:txBody>
                    <a:bodyPr/>
                    <a:p>
                      <a:r>
                        <a:rPr lang="en-US" altLang="zh-CN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API Failure</a:t>
                      </a:r>
                      <a:endParaRPr lang="en-US" altLang="zh-CN"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Errors and retries </a:t>
                      </a:r>
                      <a:r>
                        <a:rPr lang="en-US" altLang="zh-CN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are handled correctly</a:t>
                      </a:r>
                      <a:endParaRPr lang="en-US" altLang="zh-CN"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Pending Verification</a:t>
                      </a:r>
                      <a:endParaRPr lang="en-US" altLang="zh-CN"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内容占位符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95960" y="360045"/>
            <a:ext cx="10801985" cy="52641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rgbClr val="000000"/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685800" marR="0" lvl="1" indent="-228600" algn="l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>
                <a:solidFill>
                  <a:srgbClr val="000000"/>
                </a:solidFill>
                <a:uFillTx/>
                <a:latin typeface="+mn-ea"/>
                <a:ea typeface="+mn-ea"/>
                <a:cs typeface="MiSans Normal" panose="00000500000000000000" charset="-122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>
                <a:solidFill>
                  <a:srgbClr val="000000"/>
                </a:solidFill>
                <a:uFillTx/>
                <a:latin typeface="+mn-ea"/>
                <a:ea typeface="+mn-ea"/>
                <a:cs typeface="MiSans Normal" panose="00000500000000000000" charset="-122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>
                <a:solidFill>
                  <a:srgbClr val="000000"/>
                </a:solidFill>
                <a:uFillTx/>
                <a:latin typeface="+mn-ea"/>
                <a:ea typeface="+mn-ea"/>
                <a:cs typeface="MiSans Normal" panose="00000500000000000000" charset="-122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>
                <a:solidFill>
                  <a:srgbClr val="000000"/>
                </a:solidFill>
                <a:uFillTx/>
                <a:latin typeface="+mn-ea"/>
                <a:ea typeface="+mn-ea"/>
                <a:cs typeface="MiSans Normal" panose="00000500000000000000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b="1">
                <a:latin typeface="Times New Roman" panose="02020603050405020304" charset="0"/>
                <a:cs typeface="Times New Roman" panose="02020603050405020304" charset="0"/>
              </a:rPr>
              <a:t>Testing and Validation</a:t>
            </a:r>
            <a:endParaRPr lang="en-US" altLang="zh-CN" sz="2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>
            <a:noAutofit/>
          </a:bodyPr>
          <a:p>
            <a:pPr marL="0" indent="0">
              <a:buNone/>
            </a:pPr>
            <a:r>
              <a:rPr lang="en-US" altLang="zh-CN" sz="2400" b="1">
                <a:latin typeface="Times New Roman" panose="02020603050405020304" charset="0"/>
                <a:cs typeface="Times New Roman" panose="02020603050405020304" charset="0"/>
              </a:rPr>
              <a:t>Current Challenges</a:t>
            </a:r>
            <a:endParaRPr lang="en-US" altLang="zh-CN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Confusing Map Selection: Users may not know whether a map click selects the starting point or destination.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Limited Coverage: Journey planning currently supports only the Green Line B corridor.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API Dependency: Live information depends on MBTA API availability and data freshness.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zh-CN" sz="2400" b="1">
                <a:latin typeface="Times New Roman" panose="02020603050405020304" charset="0"/>
                <a:cs typeface="Times New Roman" panose="02020603050405020304" charset="0"/>
              </a:rPr>
              <a:t>Next Iteration Deliverables</a:t>
            </a:r>
            <a:endParaRPr lang="en-US" altLang="zh-CN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Improved Map Interaction: Clear starting/destination selection controls and visual feedback.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Enhanced Testing: Additional interaction, API failure, and refresh tests with documented results.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Verified Live Data: Validate departure predictions and fallback behavior during service hours.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Deployment Package: A stable demo, updated README, and reproducible setup instructions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 idx="2"/>
            <p:custDataLst>
              <p:tags r:id="rId1"/>
            </p:custDataLst>
          </p:nvPr>
        </p:nvSpPr>
        <p:spPr>
          <a:xfrm>
            <a:off x="695960" y="3068910"/>
            <a:ext cx="10800000" cy="720000"/>
          </a:xfrm>
        </p:spPr>
        <p:txBody>
          <a:bodyPr>
            <a:normAutofit/>
          </a:bodyPr>
          <a:lstStyle/>
          <a:p>
            <a:pPr algn="ctr"/>
            <a:r>
              <a:rPr lang="en-US" altLang="zh-CN">
                <a:solidFill>
                  <a:schemeClr val="tx1"/>
                </a:solidFill>
                <a:cs typeface="Arial" panose="020B0604020202020204" pitchFamily="34" charset="0"/>
                <a:sym typeface="+mn-ea"/>
              </a:rPr>
              <a:t>Thank you for watching!</a:t>
            </a:r>
            <a:endParaRPr lang="en-US" altLang="zh-CN">
              <a:solidFill>
                <a:schemeClr val="tx1"/>
              </a:solidFill>
              <a:cs typeface="Arial" panose="020B0604020202020204" pitchFamily="34" charset="0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</p:tagLst>
</file>

<file path=ppt/tags/tag2.xml><?xml version="1.0" encoding="utf-8"?>
<p:tagLst xmlns:p="http://schemas.openxmlformats.org/presentationml/2006/main">
  <p:tag name="KSO_WM_UNIT_ISCONTENTSTITLE" val="0"/>
  <p:tag name="KSO_WM_UNIT_ISNUMDGMTITLE" val="0"/>
  <p:tag name="KSO_WM_UNIT_PRESET_TEXT" val=" WPS,a click to unlimited possibilities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  <p:tag name="KSO_WM_UNIT_CONTENT_GROUP_TYPE" val="contentchip"/>
</p:tagLst>
</file>

<file path=ppt/tags/tag3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文档标题内容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  <p:tag name="KSO_WM_UNIT_CONTENT_GROUP_TYPE" val="contentchip"/>
</p:tagLst>
</file>

<file path=ppt/tags/tag4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  <p:tag name="KSO_WM_UNIT_CONTENT_GROUP_TYPE" val="contentchip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PRESET_TEXT" val="01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  <p:tag name="KSO_WM_UNIT_CONTENT_GROUP_TYPE" val="contentchip"/>
</p:tagLst>
</file>

<file path=ppt/tags/tag20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  <p:tag name="KSO_WM_UNIT_CONTENT_GROUP_TYPE" val="contentchip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2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  <p:tag name="KSO_WM_UNIT_CONTENT_GROUP_TYPE" val="titlestyle"/>
</p:tagLst>
</file>

<file path=ppt/tags/tag3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32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34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0*i*1"/>
  <p:tag name="KSO_WM_UNIT_LAYERLEVEL" val="1"/>
  <p:tag name="KSO_WM_TAG_VERSION" val="3.0"/>
</p:tagLst>
</file>

<file path=ppt/tags/tag5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选择预设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  <p:tag name="KSO_WM_UNIT_CONTENT_GROUP_TYPE" val="titlestyle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ISCONTENTSTITLE" val="0"/>
  <p:tag name="KSO_WM_UNIT_ISNUMDGMTITLE" val="0"/>
  <p:tag name="KSO_WM_UNIT_PRESET_TEXT" val="THANK YOU"/>
  <p:tag name="KSO_WM_UNIT_NOCLEAR" val="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  <p:tag name="KSO_WM_UNIT_CONTENT_GROUP_TYPE" val="contentchip"/>
  <p:tag name="KSO_WM_UNIT_VALUE" val="8"/>
</p:tagLst>
</file>

<file path=ppt/tags/tag57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  <p:tag name="KSO_WM_UNIT_CONTENT_GROUP_TYPE" val="contentchip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02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TEMPLATE_CATEGORY" val="custom"/>
  <p:tag name="KSO_WM_TEMPLATE_INDEX" val="20230244"/>
</p:tagLst>
</file>

<file path=ppt/tags/tag67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0244"/>
  <p:tag name="KSO_WM_TEMPLATE_THUMBS_INDEX" val="1、11"/>
</p:tagLst>
</file>

<file path=ppt/tags/tag68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5"/>
  <p:tag name="KSO_WM_TEMPLATE_MASTER_TYPE" val="0"/>
  <p:tag name="KSO_WM_TEMPLATE_COLOR_TYPE" val="1"/>
  <p:tag name="KSO_WM_UNIT_SHOW_EDIT_AREA_INDICATION" val="1"/>
</p:tagLst>
</file>

<file path=ppt/tags/tag6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30244_1*b*1"/>
  <p:tag name="KSO_WM_TEMPLATE_CATEGORY" val="custom"/>
  <p:tag name="KSO_WM_TEMPLATE_INDEX" val="20230244"/>
  <p:tag name="KSO_WM_UNIT_LAYERLEVEL" val="1"/>
  <p:tag name="KSO_WM_TAG_VERSION" val="3.0"/>
  <p:tag name="KSO_WM_BEAUTIFY_FLAG" val="#wm#"/>
  <p:tag name="KSO_WM_UNIT_CONTENT_GROUP_TYPE" val="contentchip"/>
  <p:tag name="KSO_WM_UNIT_PRESET_TEXT" val=" WPS,a click to unlimited possibilities"/>
  <p:tag name="KSO_WM_UNIT_TEXT_TYPE" val="1"/>
</p:tagLst>
</file>

<file path=ppt/tags/tag7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44_1*a*1"/>
  <p:tag name="KSO_WM_TEMPLATE_CATEGORY" val="custom"/>
  <p:tag name="KSO_WM_TEMPLATE_INDEX" val="20230244"/>
  <p:tag name="KSO_WM_UNIT_LAYERLEVEL" val="1"/>
  <p:tag name="KSO_WM_TAG_VERSION" val="3.0"/>
  <p:tag name="KSO_WM_BEAUTIFY_FLAG" val="#wm#"/>
  <p:tag name="KSO_WM_UNIT_CONTENT_GROUP_TYPE" val="contentchip"/>
  <p:tag name="KSO_WM_UNIT_PRESET_TEXT" val="添加文档标题内容"/>
  <p:tag name="KSO_WM_UNIT_TEXT_TYPE" val="1"/>
</p:tagLst>
</file>

<file path=ppt/tags/tag71.xml><?xml version="1.0" encoding="utf-8"?>
<p:tagLst xmlns:p="http://schemas.openxmlformats.org/presentationml/2006/main">
  <p:tag name="KSO_WM_UNIT_SUBTYPE" val="b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TEMPLATE_CATEGORY" val="custom"/>
  <p:tag name="KSO_WM_TEMPLATE_INDEX" val="20230244"/>
  <p:tag name="KSO_WM_UNIT_LAYERLEVEL" val="1"/>
  <p:tag name="KSO_WM_TAG_VERSION" val="3.0"/>
  <p:tag name="KSO_WM_BEAUTIFY_FLAG" val="#wm#"/>
  <p:tag name="KSO_WM_UNIT_CONTENT_GROUP_TYPE" val="contentchip"/>
  <p:tag name="KSO_WM_UNIT_PRESET_TEXT" val="汇报人：稻小壳"/>
</p:tagLst>
</file>

<file path=ppt/tags/tag72.xml><?xml version="1.0" encoding="utf-8"?>
<p:tagLst xmlns:p="http://schemas.openxmlformats.org/presentationml/2006/main">
  <p:tag name="KSO_WM_SLIDE_ID" val="custom20230244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0244"/>
  <p:tag name="KSO_WM_SLIDE_LAYOUT" val="a_b_f"/>
  <p:tag name="KSO_WM_SLIDE_LAYOUT_CNT" val="1_1_1"/>
  <p:tag name="KSO_WM_TEMPLATE_THUMBS_INDEX" val="1、11"/>
  <p:tag name="KSO_WM_SLIDE_CONTENT_AREA" val="{&quot;left&quot;:&quot;58.35&quot;,&quot;top&quot;:&quot;94.55&quot;,&quot;width&quot;:&quot;600.15&quot;,&quot;height&quot;:&quot;297&quot;}"/>
  <p:tag name="KSO_WM_SLIDE_THEME_ID" val="3302934"/>
  <p:tag name="KSO_WM_SLIDE_THEME_NAME" val="蓝色简约风主题"/>
</p:tagLst>
</file>

<file path=ppt/tags/tag7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30244"/>
</p:tagLst>
</file>

<file path=ppt/tags/tag7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30244"/>
</p:tagLst>
</file>

<file path=ppt/tags/tag7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30244"/>
</p:tagLst>
</file>

<file path=ppt/tags/tag7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30244"/>
</p:tagLst>
</file>

<file path=ppt/tags/tag8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230244"/>
</p:tagLst>
</file>

<file path=ppt/tags/tag8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  <p:tag name="TABLE_ENDDRAG_ORIGIN_RECT" val="850*259"/>
  <p:tag name="TABLE_ENDDRAG_RECT" val="54*186*850*259"/>
</p:tagLst>
</file>

<file path=ppt/tags/tag8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85.xml><?xml version="1.0" encoding="utf-8"?>
<p:tagLst xmlns:p="http://schemas.openxmlformats.org/presentationml/2006/main">
  <p:tag name="KSO_WM_BEAUTIFY_FLAG" val="#wm#"/>
  <p:tag name="KSO_WM_TEMPLATE_CATEGORY" val="custom"/>
  <p:tag name="KSO_WM_TEMPLATE_INDEX" val="20230244"/>
</p:tagLst>
</file>

<file path=ppt/tags/tag8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  <p:tag name="TABLE_ENDDRAG_ORIGIN_RECT" val="850*367"/>
  <p:tag name="TABLE_ENDDRAG_RECT" val="54*87*850*367"/>
</p:tagLst>
</file>

<file path=ppt/tags/tag8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88.xml><?xml version="1.0" encoding="utf-8"?>
<p:tagLst xmlns:p="http://schemas.openxmlformats.org/presentationml/2006/main">
  <p:tag name="KSO_WM_BEAUTIFY_FLAG" val="#wm#"/>
  <p:tag name="KSO_WM_TEMPLATE_CATEGORY" val="custom"/>
  <p:tag name="KSO_WM_TEMPLATE_INDEX" val="20230244"/>
</p:tagLst>
</file>

<file path=ppt/tags/tag8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90.xml><?xml version="1.0" encoding="utf-8"?>
<p:tagLst xmlns:p="http://schemas.openxmlformats.org/presentationml/2006/main">
  <p:tag name="KSO_WM_BEAUTIFY_FLAG" val="#wm#"/>
  <p:tag name="KSO_WM_TEMPLATE_CATEGORY" val="custom"/>
  <p:tag name="KSO_WM_TEMPLATE_INDEX" val="20230244"/>
</p:tagLst>
</file>

<file path=ppt/tags/tag9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44_1*a*1"/>
  <p:tag name="KSO_WM_TEMPLATE_CATEGORY" val="custom"/>
  <p:tag name="KSO_WM_TEMPLATE_INDEX" val="20230244"/>
  <p:tag name="KSO_WM_UNIT_LAYERLEVEL" val="1"/>
  <p:tag name="KSO_WM_TAG_VERSION" val="3.0"/>
  <p:tag name="KSO_WM_BEAUTIFY_FLAG" val="#wm#"/>
  <p:tag name="KSO_WM_UNIT_CONTENT_GROUP_TYPE" val="contentchip"/>
  <p:tag name="KSO_WM_UNIT_PRESET_TEXT" val="添加文档标题内容"/>
  <p:tag name="KSO_WM_UNIT_TEXT_TYPE" val="1"/>
</p:tagLst>
</file>

<file path=ppt/tags/tag92.xml><?xml version="1.0" encoding="utf-8"?>
<p:tagLst xmlns:p="http://schemas.openxmlformats.org/presentationml/2006/main">
  <p:tag name="KSO_WM_BEAUTIFY_FLAG" val="#wm#"/>
  <p:tag name="KSO_WM_TEMPLATE_CATEGORY" val="custom"/>
  <p:tag name="KSO_WM_TEMPLATE_INDEX" val="202302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蓝色简约主">
      <a:dk1>
        <a:srgbClr val="000000"/>
      </a:dk1>
      <a:lt1>
        <a:srgbClr val="FFFFFF"/>
      </a:lt1>
      <a:dk2>
        <a:srgbClr val="16468D"/>
      </a:dk2>
      <a:lt2>
        <a:srgbClr val="D2F0FB"/>
      </a:lt2>
      <a:accent1>
        <a:srgbClr val="018AFF"/>
      </a:accent1>
      <a:accent2>
        <a:srgbClr val="109BEE"/>
      </a:accent2>
      <a:accent3>
        <a:srgbClr val="16AADB"/>
      </a:accent3>
      <a:accent4>
        <a:srgbClr val="1BB8C7"/>
      </a:accent4>
      <a:accent5>
        <a:srgbClr val="1FC5B1"/>
      </a:accent5>
      <a:accent6>
        <a:srgbClr val="23D197"/>
      </a:accent6>
      <a:hlink>
        <a:srgbClr val="F128E5"/>
      </a:hlink>
      <a:folHlink>
        <a:srgbClr val="12E863"/>
      </a:folHlink>
    </a:clrScheme>
    <a:fontScheme name="自定义 16">
      <a:majorFont>
        <a:latin typeface="MiSans Heavy"/>
        <a:ea typeface="MiSans Heavy"/>
        <a:cs typeface=""/>
      </a:majorFont>
      <a:minorFont>
        <a:latin typeface="MiSans Normal"/>
        <a:ea typeface="MiSans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3359</Words>
  <Application>WPS 演示</Application>
  <PresentationFormat>宽屏</PresentationFormat>
  <Paragraphs>147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28" baseType="lpstr">
      <vt:lpstr>Arial</vt:lpstr>
      <vt:lpstr>宋体</vt:lpstr>
      <vt:lpstr>Wingdings</vt:lpstr>
      <vt:lpstr>Arial Unicode MS</vt:lpstr>
      <vt:lpstr>Calibri</vt:lpstr>
      <vt:lpstr>微软雅黑</vt:lpstr>
      <vt:lpstr>Wingdings</vt:lpstr>
      <vt:lpstr>MiSans Normal</vt:lpstr>
      <vt:lpstr>MiSans Heavy</vt:lpstr>
      <vt:lpstr>Segoe Print</vt:lpstr>
      <vt:lpstr>MiSans Normal</vt:lpstr>
      <vt:lpstr>Times New Roman</vt:lpstr>
      <vt:lpstr>Bodoni MT Condensed</vt:lpstr>
      <vt:lpstr>Eras Light ITC</vt:lpstr>
      <vt:lpstr>Kunstler Script</vt:lpstr>
      <vt:lpstr>Modern No. 20</vt:lpstr>
      <vt:lpstr>WPS</vt:lpstr>
      <vt:lpstr>1_Office 主题</vt:lpstr>
      <vt:lpstr>添加文档标题内容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MBTA Tracker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十一月的嚣张</cp:lastModifiedBy>
  <cp:revision>7</cp:revision>
  <dcterms:created xsi:type="dcterms:W3CDTF">2023-08-09T12:44:00Z</dcterms:created>
  <dcterms:modified xsi:type="dcterms:W3CDTF">2026-10-26T10:32:47Z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5A7D2BA9D65943568210CC165FCDB9B3_12</vt:lpwstr>
  </property>
</Properties>
</file>