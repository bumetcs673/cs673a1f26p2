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63" r:id="rId3"/>
    <p:sldId id="257" r:id="rId4"/>
    <p:sldId id="268" r:id="rId5"/>
    <p:sldId id="258" r:id="rId6"/>
    <p:sldId id="259" r:id="rId7"/>
    <p:sldId id="260" r:id="rId8"/>
    <p:sldId id="261"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are Team 2, and our project is an MBTA tracker. We want to build a simple web app that helps a rider check upcoming trains and service alerts before going to a stop.</a:t>
            </a:r>
          </a:p>
          <a:p>
            <a:endParaRPr/>
          </a:p>
          <a:p>
            <a:r>
              <a:t>For Iteration 0, we are presenting the project idea, a proposed scope, and our plan for the first working version.</a:t>
            </a:r>
          </a:p>
          <a:p>
            <a:endParaRPr/>
          </a:p>
          <a:p>
            <a:r>
              <a:t>Sources</a:t>
            </a:r>
          </a:p>
          <a:p>
            <a:r>
              <a:t>Cover photo: Janice Checchio / Boston University, 2019. https://www.bu.edu/articles/2019/bu-commuter-benefits/</a:t>
            </a:r>
          </a:p>
          <a:p>
            <a:r>
              <a:t>Image: https://www.bu.edu/files/2019/08/resized-19-1294-SPRINGSTOCK-113.jpg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lead responsibilities for our group. A lead coordinates that area, and the rest of the group still contributes.</a:t>
            </a:r>
          </a:p>
          <a:p>
            <a:endParaRPr/>
          </a:p>
          <a:p>
            <a:r>
              <a:t>The role list has six responsibilities for five members, so a member may hold more than one lead role.</a:t>
            </a:r>
          </a:p>
          <a:p>
            <a:endParaRPr/>
          </a:p>
          <a:p>
            <a:r>
              <a:t>Sources</a:t>
            </a:r>
          </a:p>
          <a:p>
            <a:r>
              <a:t>Role labels: the team table supplied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initial users would be students and other riders near BU. We are using that group as a starting point for the design, rather than claiming that we have already conducted user interviews.</a:t>
            </a:r>
          </a:p>
          <a:p>
            <a:endParaRPr/>
          </a:p>
          <a:p>
            <a:r>
              <a:t>A typical user chooses a route, direction, and stop, then checks the upcoming predictions and relevant service alerts. The Green Line B branch is a proposed first demonstration case. We can confirm the exact coverage as a group.</a:t>
            </a:r>
          </a:p>
          <a:p>
            <a:endParaRPr/>
          </a:p>
          <a:p>
            <a:r>
              <a:t>This project gives us a familiar problem to practice requirements, interface design, API integration, and testing. We are not promising to make the MBTA predictions more accurate.</a:t>
            </a:r>
          </a:p>
          <a:p>
            <a:endParaRPr/>
          </a:p>
          <a:p>
            <a:r>
              <a:t>Sources</a:t>
            </a:r>
          </a:p>
          <a:p>
            <a:r>
              <a:t>Green Line B connection to BU: https://www.bu.edu/articles/2019/bu-commuter-benefits/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077C2-101C-C6A3-FAEA-9FB1463AB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C09FA5-EE1B-E461-A494-29B1FCCE3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9FB60-B577-DD44-F3C2-454AD8476C73}"/>
              </a:ext>
            </a:extLst>
          </p:cNvPr>
          <p:cNvSpPr>
            <a:spLocks noGrp="1"/>
          </p:cNvSpPr>
          <p:nvPr>
            <p:ph type="body" idx="1"/>
          </p:nvPr>
        </p:nvSpPr>
        <p:spPr/>
        <p:txBody>
          <a:bodyPr/>
          <a:lstStyle/>
          <a:p>
            <a:r>
              <a:t>Our initial users would be students and other riders near BU. We are using that group as a starting point for the design, rather than claiming that we have already conducted user interviews.</a:t>
            </a:r>
          </a:p>
          <a:p>
            <a:endParaRPr/>
          </a:p>
          <a:p>
            <a:r>
              <a:t>A typical user chooses a route, direction, and stop, then checks the upcoming predictions and relevant service alerts. The Green Line B branch is a proposed first demonstration case. We can confirm the exact coverage as a group.</a:t>
            </a:r>
          </a:p>
          <a:p>
            <a:endParaRPr/>
          </a:p>
          <a:p>
            <a:r>
              <a:t>This project gives us a familiar problem to practice requirements, interface design, API integration, and testing. We are not promising to make the MBTA predictions more accurate.</a:t>
            </a:r>
          </a:p>
          <a:p>
            <a:endParaRPr/>
          </a:p>
          <a:p>
            <a:r>
              <a:t>Sources</a:t>
            </a:r>
          </a:p>
          <a:p>
            <a:r>
              <a:t>Green Line B connection to BU: https://www.bu.edu/articles/2019/bu-commuter-benefits/</a:t>
            </a:r>
          </a:p>
        </p:txBody>
      </p:sp>
      <p:sp>
        <p:nvSpPr>
          <p:cNvPr id="4" name="Slide Number Placeholder 3">
            <a:extLst>
              <a:ext uri="{FF2B5EF4-FFF2-40B4-BE49-F238E27FC236}">
                <a16:creationId xmlns:a16="http://schemas.microsoft.com/office/drawing/2014/main" id="{DC3B92DA-52BD-58B8-66CF-E96585F590C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01633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first version has four main features: a route and stop selector, upcoming arrival information, service alerts, and favorite stops saved in the same browser.</a:t>
            </a:r>
          </a:p>
          <a:p>
            <a:endParaRPr/>
          </a:p>
          <a:p>
            <a:r>
              <a:t>We would first complete this flow for the Green Line B branch. Other subway lines or a basic vehicle map could follow only after the core flow works reliably. If time is tight, favorites can move to a later iteration.</a:t>
            </a:r>
          </a:p>
          <a:p>
            <a:endParaRPr/>
          </a:p>
          <a:p>
            <a:r>
              <a:t>We are keeping account systems, journey planning, push notifications, and our own prediction algorithm outside the first version. A complete small application still includes useful work in loading states, error handling, accessibility, and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official API provides the information we need. Routes and stops populate the selection controls. Predictions provide estimated times, and alerts provide service information for the selected route.</a:t>
            </a:r>
          </a:p>
          <a:p>
            <a:endParaRPr/>
          </a:p>
          <a:p>
            <a:r>
              <a:t>We need to filter the predictions request. We should also use readable direction labels and destinations from MBTA rather than assume that direction 0 always means the same thing on every route.</a:t>
            </a:r>
          </a:p>
          <a:p>
            <a:endParaRPr/>
          </a:p>
          <a:p>
            <a:r>
              <a:t>Some predictions have a missing arrival or departure time. We will handle missing values and show a clear message when no usable predictions are available. Scheduled times are a separate type of data and should not be presented as live predictions.</a:t>
            </a:r>
          </a:p>
          <a:p>
            <a:endParaRPr/>
          </a:p>
          <a:p>
            <a:r>
              <a:t>The developer portal allows experimentation without a key and recommends requesting a key for each app. We will not assume a fixed universal request limit.</a:t>
            </a:r>
          </a:p>
          <a:p>
            <a:endParaRPr/>
          </a:p>
          <a:p>
            <a:r>
              <a:t>Sources</a:t>
            </a:r>
          </a:p>
          <a:p>
            <a:r>
              <a:t>MBTA V3 API developer portal: https://api-v3.mbta.com/</a:t>
            </a:r>
          </a:p>
          <a:p>
            <a:r>
              <a:t>Official API specification: https://api-v3.mbta.com/docs/swagger/swagger.json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stack is a proposal for discussion. The group can replace it with tools everyone already knows or tools the course requires.</a:t>
            </a:r>
          </a:p>
          <a:p>
            <a:endParaRPr/>
          </a:p>
          <a:p>
            <a:r>
              <a:t>The browser would handle the interface. One Flask backend would request the MBTA data and return the fields the page needs. Any API key would stay on the backend and outside the repository.</a:t>
            </a:r>
          </a:p>
          <a:p>
            <a:endParaRPr/>
          </a:p>
          <a:p>
            <a:r>
              <a:t>Favorites can use browser localStorage, so the first version does not need user accounts or a database. Favorites would remain in that browser and would not automatically sync across devices.</a:t>
            </a:r>
          </a:p>
          <a:p>
            <a:endParaRPr/>
          </a:p>
          <a:p>
            <a:r>
              <a:t>A proposed starting point is to refresh every 30 seconds, with a manual refresh option and a small shared backend cache. This is our proposed application behavior, not a claim about MBTA update frequency. We can adjust it after checking the available request allowance.</a:t>
            </a:r>
          </a:p>
          <a:p>
            <a:endParaRPr/>
          </a:p>
          <a:p>
            <a:r>
              <a:t>Sources</a:t>
            </a:r>
          </a:p>
          <a:p>
            <a:r>
              <a:t>MBTA key and API access information: https://api-v3.mbta.com/</a:t>
            </a:r>
          </a:p>
          <a:p>
            <a:r>
              <a:t>MBTA response and rate-limit details: https://api-v3.mbta.com/docs/swagger/swagger.json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proposed acceptance checks. They give us concrete ways to decide whether a feature works instead of only judging its appearance.</a:t>
            </a:r>
          </a:p>
          <a:p>
            <a:endParaRPr/>
          </a:p>
          <a:p>
            <a:r>
              <a:t>Changing the route or direction should clear incompatible selections and previous results. Arrivals should stay in chronological order, with fewer than three shown if fewer are available. The displayed context should include the selected stop and the destination or direction.</a:t>
            </a:r>
          </a:p>
          <a:p>
            <a:endParaRPr/>
          </a:p>
          <a:p>
            <a:r>
              <a:t>A successful response with no predictions is different from an API failure. We should show a clear message for each and offer refresh or retry. If old results remain after a failed refresh, the screen should clearly identify them as outdated.</a:t>
            </a:r>
          </a:p>
          <a:p>
            <a:endParaRPr/>
          </a:p>
          <a:p>
            <a:r>
              <a:t>We can test filtering, time ordering, and missing values with fixed sample responses. Then we can check a live request and the full browser flow. Basic interface checks should include keyboard use and a narrow screen. We will also keep secrets out of Git and display API text safely.</a:t>
            </a:r>
          </a:p>
          <a:p>
            <a:endParaRPr/>
          </a:p>
          <a:p>
            <a:r>
              <a:t>Sources</a:t>
            </a:r>
          </a:p>
          <a:p>
            <a:r>
              <a:t>Prediction time fields and filters: https://api-v3.mbta.com/docs/swagger/swagger.json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proposed milestones, rather than a fixed course calendar. We can map them to the assignment deadlines once the group confirms them.</a:t>
            </a:r>
          </a:p>
          <a:p>
            <a:endParaRPr/>
          </a:p>
          <a:p>
            <a:r>
              <a:t>Our first technical milestone should be deliberately small: retrieve usable predictions and show them for one selected stop. After that works, we can add the complete selection flow, alerts, favorites, and refresh behavior.</a:t>
            </a:r>
          </a:p>
          <a:p>
            <a:endParaRPr/>
          </a:p>
          <a:p>
            <a:r>
              <a:t>We should integrate work regularly so that the frontend and backend do not become separate pieces that only meet at the end. A shared task list, short check-ins, and review before merging should be enough for a team of five.</a:t>
            </a:r>
          </a:p>
          <a:p>
            <a:endParaRPr/>
          </a:p>
          <a:p>
            <a:r>
              <a:t>The final version should include a repeatable setup process and a demonstration of both normal use and missing-data or error cases.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have selected the project, formed the team, chosen roles, and decided to use the official MBTA API.</a:t>
            </a:r>
          </a:p>
          <a:p>
            <a:endParaRPr/>
          </a:p>
          <a:p>
            <a:r>
              <a:t>The proposed feature scope, route coverage, and technology choices still need the group's agreement. Our next step is to settle those choices, examine sample API responses, and sketch the first screen.</a:t>
            </a:r>
          </a:p>
          <a:p>
            <a:endParaRPr/>
          </a:p>
          <a:p>
            <a:r>
              <a:t>The immediate goal is a working screen for one selected stop. That gives us a concrete base to extend in the following iteration.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api-v3.mbta.com/docs/swagger/index.html"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F3EE"/>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r="42000"/>
          <a:stretch/>
        </p:blipFill>
        <p:spPr>
          <a:xfrm>
            <a:off x="6229350" y="0"/>
            <a:ext cx="5962650" cy="6858000"/>
          </a:xfrm>
          <a:prstGeom prst="rect">
            <a:avLst/>
          </a:prstGeom>
        </p:spPr>
      </p:pic>
      <p:sp>
        <p:nvSpPr>
          <p:cNvPr id="2" name="Team 2">
            <a:extLst>
              <a:ext uri="{FF2B5EF4-FFF2-40B4-BE49-F238E27FC236}">
                <a16:creationId xmlns:a16="http://schemas.microsoft.com/office/drawing/2014/main" id="{A2BBB7FC-424D-4B13-9EF8-75A1A6A11DC4}"/>
              </a:ext>
            </a:extLst>
          </p:cNvPr>
          <p:cNvSpPr>
            <a:spLocks noGrp="1"/>
          </p:cNvSpPr>
          <p:nvPr/>
        </p:nvSpPr>
        <p:spPr>
          <a:xfrm>
            <a:off x="609600" y="800100"/>
            <a:ext cx="4953000" cy="533400"/>
          </a:xfrm>
          <a:prstGeom prst="rect">
            <a:avLst/>
          </a:prstGeom>
          <a:noFill/>
          <a:ln w="0">
            <a:noFill/>
          </a:ln>
        </p:spPr>
        <p:txBody>
          <a:bodyPr wrap="square" lIns="0" tIns="0" rIns="0" bIns="0" anchor="t">
            <a:noAutofit/>
          </a:bodyPr>
          <a:lstStyle/>
          <a:p>
            <a:pPr algn="l">
              <a:defRPr sz="2250" b="1">
                <a:solidFill>
                  <a:srgbClr val="176441"/>
                </a:solidFill>
                <a:latin typeface="Arial"/>
                <a:ea typeface="Arial"/>
                <a:cs typeface="Arial"/>
              </a:defRPr>
            </a:pPr>
            <a:r>
              <a:rPr sz="2250" b="1">
                <a:solidFill>
                  <a:srgbClr val="176441"/>
                </a:solidFill>
                <a:latin typeface="Arial"/>
                <a:ea typeface="Arial"/>
                <a:cs typeface="Arial"/>
              </a:rPr>
              <a:t>Team 2</a:t>
            </a:r>
          </a:p>
        </p:txBody>
      </p:sp>
      <p:sp>
        <p:nvSpPr>
          <p:cNvPr id="3" name="MBTA&#10;Tracker">
            <a:extLst>
              <a:ext uri="{FF2B5EF4-FFF2-40B4-BE49-F238E27FC236}">
                <a16:creationId xmlns:a16="http://schemas.microsoft.com/office/drawing/2014/main" id="{C79AED39-2B58-4513-A55C-270E65776315}"/>
              </a:ext>
            </a:extLst>
          </p:cNvPr>
          <p:cNvSpPr>
            <a:spLocks noGrp="1"/>
          </p:cNvSpPr>
          <p:nvPr/>
        </p:nvSpPr>
        <p:spPr>
          <a:xfrm>
            <a:off x="609600" y="1838325"/>
            <a:ext cx="5048250" cy="1762125"/>
          </a:xfrm>
          <a:prstGeom prst="rect">
            <a:avLst/>
          </a:prstGeom>
          <a:noFill/>
          <a:ln w="0">
            <a:noFill/>
          </a:ln>
        </p:spPr>
        <p:txBody>
          <a:bodyPr wrap="square" lIns="0" tIns="0" rIns="0" bIns="0" anchor="t">
            <a:noAutofit/>
          </a:bodyPr>
          <a:lstStyle/>
          <a:p>
            <a:pPr algn="l">
              <a:defRPr sz="5700" b="1">
                <a:solidFill>
                  <a:srgbClr val="153F31"/>
                </a:solidFill>
                <a:latin typeface="Arial"/>
                <a:ea typeface="Arial"/>
                <a:cs typeface="Arial"/>
              </a:defRPr>
            </a:pPr>
            <a:r>
              <a:rPr sz="5700" b="1">
                <a:solidFill>
                  <a:srgbClr val="153F31"/>
                </a:solidFill>
                <a:latin typeface="Arial"/>
                <a:ea typeface="Arial"/>
                <a:cs typeface="Arial"/>
              </a:rPr>
              <a:t>MBTA</a:t>
            </a:r>
          </a:p>
          <a:p>
            <a:pPr algn="l">
              <a:defRPr sz="5700" b="1">
                <a:solidFill>
                  <a:srgbClr val="153F31"/>
                </a:solidFill>
                <a:latin typeface="Arial"/>
                <a:ea typeface="Arial"/>
                <a:cs typeface="Arial"/>
              </a:defRPr>
            </a:pPr>
            <a:r>
              <a:rPr sz="5700" b="1">
                <a:solidFill>
                  <a:srgbClr val="153F31"/>
                </a:solidFill>
                <a:latin typeface="Arial"/>
                <a:ea typeface="Arial"/>
                <a:cs typeface="Arial"/>
              </a:rPr>
              <a:t>Tracker</a:t>
            </a:r>
          </a:p>
        </p:txBody>
      </p:sp>
      <p:sp>
        <p:nvSpPr>
          <p:cNvPr id="4" name="Presentation Iteration 0">
            <a:extLst>
              <a:ext uri="{FF2B5EF4-FFF2-40B4-BE49-F238E27FC236}">
                <a16:creationId xmlns:a16="http://schemas.microsoft.com/office/drawing/2014/main" id="{48A52163-4480-4295-8DC8-3FED65A837A2}"/>
              </a:ext>
            </a:extLst>
          </p:cNvPr>
          <p:cNvSpPr>
            <a:spLocks noGrp="1"/>
          </p:cNvSpPr>
          <p:nvPr/>
        </p:nvSpPr>
        <p:spPr>
          <a:xfrm>
            <a:off x="609600" y="3933825"/>
            <a:ext cx="5238750" cy="533400"/>
          </a:xfrm>
          <a:prstGeom prst="rect">
            <a:avLst/>
          </a:prstGeom>
          <a:noFill/>
          <a:ln w="0">
            <a:noFill/>
          </a:ln>
        </p:spPr>
        <p:txBody>
          <a:bodyPr wrap="square" lIns="0" tIns="0" rIns="0" bIns="0" anchor="t">
            <a:noAutofit/>
          </a:bodyPr>
          <a:lstStyle/>
          <a:p>
            <a:pPr algn="l">
              <a:defRPr sz="2400" b="0">
                <a:solidFill>
                  <a:srgbClr val="153F31"/>
                </a:solidFill>
                <a:latin typeface="Arial"/>
                <a:ea typeface="Arial"/>
                <a:cs typeface="Arial"/>
              </a:defRPr>
            </a:pPr>
            <a:r>
              <a:rPr sz="2400" b="0">
                <a:solidFill>
                  <a:srgbClr val="153F31"/>
                </a:solidFill>
                <a:latin typeface="Arial"/>
                <a:ea typeface="Arial"/>
                <a:cs typeface="Arial"/>
              </a:rPr>
              <a:t>Presentation Iteration 0</a:t>
            </a:r>
          </a:p>
        </p:txBody>
      </p:sp>
      <p:sp>
        <p:nvSpPr>
          <p:cNvPr id="5" name="A web app for arrivals&#10;and service alerts">
            <a:extLst>
              <a:ext uri="{FF2B5EF4-FFF2-40B4-BE49-F238E27FC236}">
                <a16:creationId xmlns:a16="http://schemas.microsoft.com/office/drawing/2014/main" id="{EC0F11DC-2E4A-482A-8BB2-6663FB2E66A4}"/>
              </a:ext>
            </a:extLst>
          </p:cNvPr>
          <p:cNvSpPr>
            <a:spLocks noGrp="1"/>
          </p:cNvSpPr>
          <p:nvPr/>
        </p:nvSpPr>
        <p:spPr>
          <a:xfrm>
            <a:off x="609600" y="5086350"/>
            <a:ext cx="5048250" cy="933450"/>
          </a:xfrm>
          <a:prstGeom prst="rect">
            <a:avLst/>
          </a:prstGeom>
          <a:noFill/>
          <a:ln w="0">
            <a:noFill/>
          </a:ln>
        </p:spPr>
        <p:txBody>
          <a:bodyPr wrap="square" lIns="0" tIns="0" rIns="0" bIns="0" anchor="t">
            <a:noAutofit/>
          </a:bodyPr>
          <a:lstStyle/>
          <a:p>
            <a:pPr algn="l">
              <a:defRPr sz="2175" b="0">
                <a:solidFill>
                  <a:srgbClr val="54665C"/>
                </a:solidFill>
                <a:latin typeface="Arial"/>
                <a:ea typeface="Arial"/>
                <a:cs typeface="Arial"/>
              </a:defRPr>
            </a:pPr>
            <a:r>
              <a:rPr sz="2175" b="0">
                <a:solidFill>
                  <a:srgbClr val="54665C"/>
                </a:solidFill>
                <a:latin typeface="Arial"/>
                <a:ea typeface="Arial"/>
                <a:cs typeface="Arial"/>
              </a:rPr>
              <a:t>A web app for arrivals</a:t>
            </a:r>
          </a:p>
          <a:p>
            <a:pPr algn="l">
              <a:defRPr sz="2175" b="0">
                <a:solidFill>
                  <a:srgbClr val="54665C"/>
                </a:solidFill>
                <a:latin typeface="Arial"/>
                <a:ea typeface="Arial"/>
                <a:cs typeface="Arial"/>
              </a:defRPr>
            </a:pPr>
            <a:r>
              <a:rPr sz="2175" b="0">
                <a:solidFill>
                  <a:srgbClr val="54665C"/>
                </a:solidFill>
                <a:latin typeface="Arial"/>
                <a:ea typeface="Arial"/>
                <a:cs typeface="Arial"/>
              </a:rPr>
              <a:t>and service alerts</a:t>
            </a:r>
          </a:p>
        </p:txBody>
      </p:sp>
    </p:spTree>
    <p:extLst>
      <p:ext uri="{BB962C8B-B14F-4D97-AF65-F5344CB8AC3E}">
        <p14:creationId xmlns:p14="http://schemas.microsoft.com/office/powerpoint/2010/main" val="547559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am roles">
            <a:extLst>
              <a:ext uri="{FF2B5EF4-FFF2-40B4-BE49-F238E27FC236}">
                <a16:creationId xmlns:a16="http://schemas.microsoft.com/office/drawing/2014/main" id="{38754B6C-B7E2-49DF-B21C-A954ADE5B6B3}"/>
              </a:ext>
            </a:extLst>
          </p:cNvPr>
          <p:cNvSpPr>
            <a:spLocks noGrp="1"/>
          </p:cNvSpPr>
          <p:nvPr/>
        </p:nvSpPr>
        <p:spPr>
          <a:xfrm>
            <a:off x="609600" y="476250"/>
            <a:ext cx="10972800" cy="723900"/>
          </a:xfrm>
          <a:prstGeom prst="rect">
            <a:avLst/>
          </a:prstGeom>
          <a:noFill/>
          <a:ln w="0">
            <a:noFill/>
          </a:ln>
        </p:spPr>
        <p:txBody>
          <a:bodyPr wrap="square" lIns="0" tIns="0" rIns="0" bIns="0" anchor="t">
            <a:noAutofit/>
          </a:bodyPr>
          <a:lstStyle/>
          <a:p>
            <a:pPr algn="l">
              <a:defRPr sz="3450" b="1">
                <a:solidFill>
                  <a:srgbClr val="153F31"/>
                </a:solidFill>
                <a:latin typeface="Arial"/>
                <a:ea typeface="Arial"/>
                <a:cs typeface="Arial"/>
              </a:defRPr>
            </a:pPr>
            <a:r>
              <a:rPr sz="3450" b="1">
                <a:solidFill>
                  <a:srgbClr val="153F31"/>
                </a:solidFill>
                <a:latin typeface="Arial"/>
                <a:ea typeface="Arial"/>
                <a:cs typeface="Arial"/>
              </a:rPr>
              <a:t>Team roles</a:t>
            </a:r>
          </a:p>
        </p:txBody>
      </p:sp>
      <p:graphicFrame>
        <p:nvGraphicFramePr>
          <p:cNvPr id="4" name="Table 3"/>
          <p:cNvGraphicFramePr/>
          <p:nvPr>
            <p:extLst>
              <p:ext uri="{D42A27DB-BD31-4B8C-83A1-F6EECF244321}">
                <p14:modId xmlns:p14="http://schemas.microsoft.com/office/powerpoint/2010/main" val="4123252674"/>
              </p:ext>
            </p:extLst>
          </p:nvPr>
        </p:nvGraphicFramePr>
        <p:xfrm>
          <a:off x="609600" y="1619250"/>
          <a:ext cx="10972800" cy="4400550"/>
        </p:xfrm>
        <a:graphic>
          <a:graphicData uri="http://schemas.openxmlformats.org/drawingml/2006/table">
            <a:tbl>
              <a:tblPr firstRow="1"/>
              <a:tblGrid>
                <a:gridCol w="70866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628650">
                <a:tc>
                  <a:txBody>
                    <a:bodyPr/>
                    <a:lstStyle/>
                    <a:p>
                      <a:r>
                        <a:rPr sz="2100" b="1">
                          <a:solidFill>
                            <a:srgbClr val="FFFFFF"/>
                          </a:solidFill>
                          <a:latin typeface="Arial"/>
                          <a:ea typeface="Arial"/>
                          <a:cs typeface="Arial"/>
                        </a:rPr>
                        <a:t>Lead role</a:t>
                      </a:r>
                    </a:p>
                  </a:txBody>
                  <a:tcPr anchor="ctr">
                    <a:solidFill>
                      <a:srgbClr val="153F31"/>
                    </a:solidFill>
                  </a:tcPr>
                </a:tc>
                <a:tc>
                  <a:txBody>
                    <a:bodyPr/>
                    <a:lstStyle/>
                    <a:p>
                      <a:r>
                        <a:rPr sz="2100" b="1">
                          <a:solidFill>
                            <a:srgbClr val="FFFFFF"/>
                          </a:solidFill>
                          <a:latin typeface="Arial"/>
                          <a:ea typeface="Arial"/>
                          <a:cs typeface="Arial"/>
                        </a:rPr>
                        <a:t>Assigned member</a:t>
                      </a:r>
                    </a:p>
                  </a:txBody>
                  <a:tcPr anchor="ctr">
                    <a:solidFill>
                      <a:srgbClr val="153F31"/>
                    </a:solidFill>
                  </a:tcPr>
                </a:tc>
                <a:extLst>
                  <a:ext uri="{0D108BD9-81ED-4DB2-BD59-A6C34878D82A}">
                    <a16:rowId xmlns:a16="http://schemas.microsoft.com/office/drawing/2014/main" val="10000"/>
                  </a:ext>
                </a:extLst>
              </a:tr>
              <a:tr h="628650">
                <a:tc>
                  <a:txBody>
                    <a:bodyPr/>
                    <a:lstStyle/>
                    <a:p>
                      <a:r>
                        <a:rPr sz="2100" b="0">
                          <a:solidFill>
                            <a:srgbClr val="192C24"/>
                          </a:solidFill>
                          <a:latin typeface="Arial"/>
                          <a:ea typeface="Arial"/>
                          <a:cs typeface="Arial"/>
                        </a:rPr>
                        <a:t>Team Leader</a:t>
                      </a:r>
                    </a:p>
                  </a:txBody>
                  <a:tcPr anchor="ctr">
                    <a:solidFill>
                      <a:srgbClr val="FFFFFF"/>
                    </a:solidFill>
                  </a:tcPr>
                </a:tc>
                <a:tc>
                  <a:txBody>
                    <a:bodyPr/>
                    <a:lstStyle/>
                    <a:p>
                      <a:r>
                        <a:rPr lang="en-US" dirty="0"/>
                        <a:t>Wenbo Fan</a:t>
                      </a:r>
                      <a:endParaRPr dirty="0"/>
                    </a:p>
                  </a:txBody>
                  <a:tcPr anchor="ctr">
                    <a:solidFill>
                      <a:srgbClr val="FFFFFF"/>
                    </a:solidFill>
                  </a:tcPr>
                </a:tc>
                <a:extLst>
                  <a:ext uri="{0D108BD9-81ED-4DB2-BD59-A6C34878D82A}">
                    <a16:rowId xmlns:a16="http://schemas.microsoft.com/office/drawing/2014/main" val="10001"/>
                  </a:ext>
                </a:extLst>
              </a:tr>
              <a:tr h="628650">
                <a:tc>
                  <a:txBody>
                    <a:bodyPr/>
                    <a:lstStyle/>
                    <a:p>
                      <a:r>
                        <a:rPr sz="2100" b="0">
                          <a:solidFill>
                            <a:srgbClr val="192C24"/>
                          </a:solidFill>
                          <a:latin typeface="Arial"/>
                          <a:ea typeface="Arial"/>
                          <a:cs typeface="Arial"/>
                        </a:rPr>
                        <a:t>Requirement Leader</a:t>
                      </a:r>
                    </a:p>
                  </a:txBody>
                  <a:tcPr anchor="ctr">
                    <a:solidFill>
                      <a:srgbClr val="EDF3EE"/>
                    </a:solidFill>
                  </a:tcPr>
                </a:tc>
                <a:tc>
                  <a:txBody>
                    <a:bodyPr/>
                    <a:lstStyle/>
                    <a:p>
                      <a:r>
                        <a:rPr lang="en-US" dirty="0" err="1"/>
                        <a:t>Yuexian</a:t>
                      </a:r>
                      <a:r>
                        <a:rPr lang="en-US" dirty="0"/>
                        <a:t> Feng (Luna)</a:t>
                      </a:r>
                      <a:endParaRPr dirty="0"/>
                    </a:p>
                  </a:txBody>
                  <a:tcPr anchor="ctr">
                    <a:solidFill>
                      <a:srgbClr val="EDF3EE"/>
                    </a:solidFill>
                  </a:tcPr>
                </a:tc>
                <a:extLst>
                  <a:ext uri="{0D108BD9-81ED-4DB2-BD59-A6C34878D82A}">
                    <a16:rowId xmlns:a16="http://schemas.microsoft.com/office/drawing/2014/main" val="10002"/>
                  </a:ext>
                </a:extLst>
              </a:tr>
              <a:tr h="628650">
                <a:tc>
                  <a:txBody>
                    <a:bodyPr/>
                    <a:lstStyle/>
                    <a:p>
                      <a:r>
                        <a:rPr sz="2100" b="0">
                          <a:solidFill>
                            <a:srgbClr val="192C24"/>
                          </a:solidFill>
                          <a:latin typeface="Arial"/>
                          <a:ea typeface="Arial"/>
                          <a:cs typeface="Arial"/>
                        </a:rPr>
                        <a:t>Design and Implementation Leader</a:t>
                      </a:r>
                    </a:p>
                  </a:txBody>
                  <a:tcPr anchor="ctr">
                    <a:solidFill>
                      <a:srgbClr val="FFFFFF"/>
                    </a:solidFill>
                  </a:tcPr>
                </a:tc>
                <a:tc>
                  <a:txBody>
                    <a:bodyPr/>
                    <a:lstStyle/>
                    <a:p>
                      <a:r>
                        <a:rPr lang="en-US" dirty="0"/>
                        <a:t>The Anh Tran (Bill)</a:t>
                      </a:r>
                      <a:endParaRPr dirty="0"/>
                    </a:p>
                  </a:txBody>
                  <a:tcPr anchor="ctr">
                    <a:solidFill>
                      <a:srgbClr val="FFFFFF"/>
                    </a:solidFill>
                  </a:tcPr>
                </a:tc>
                <a:extLst>
                  <a:ext uri="{0D108BD9-81ED-4DB2-BD59-A6C34878D82A}">
                    <a16:rowId xmlns:a16="http://schemas.microsoft.com/office/drawing/2014/main" val="10003"/>
                  </a:ext>
                </a:extLst>
              </a:tr>
              <a:tr h="628650">
                <a:tc>
                  <a:txBody>
                    <a:bodyPr/>
                    <a:lstStyle/>
                    <a:p>
                      <a:r>
                        <a:rPr sz="2100" b="0">
                          <a:solidFill>
                            <a:srgbClr val="192C24"/>
                          </a:solidFill>
                          <a:latin typeface="Arial"/>
                          <a:ea typeface="Arial"/>
                          <a:cs typeface="Arial"/>
                        </a:rPr>
                        <a:t>Configuration Leader</a:t>
                      </a:r>
                    </a:p>
                  </a:txBody>
                  <a:tcPr anchor="ctr">
                    <a:solidFill>
                      <a:srgbClr val="EDF3EE"/>
                    </a:solidFill>
                  </a:tcPr>
                </a:tc>
                <a:tc>
                  <a:txBody>
                    <a:bodyPr/>
                    <a:lstStyle/>
                    <a:p>
                      <a:r>
                        <a:rPr lang="en-US" dirty="0"/>
                        <a:t>Yuchen Bao</a:t>
                      </a:r>
                      <a:endParaRPr dirty="0"/>
                    </a:p>
                  </a:txBody>
                  <a:tcPr anchor="ctr">
                    <a:solidFill>
                      <a:srgbClr val="EDF3EE"/>
                    </a:solidFill>
                  </a:tcPr>
                </a:tc>
                <a:extLst>
                  <a:ext uri="{0D108BD9-81ED-4DB2-BD59-A6C34878D82A}">
                    <a16:rowId xmlns:a16="http://schemas.microsoft.com/office/drawing/2014/main" val="10004"/>
                  </a:ext>
                </a:extLst>
              </a:tr>
              <a:tr h="628650">
                <a:tc>
                  <a:txBody>
                    <a:bodyPr/>
                    <a:lstStyle/>
                    <a:p>
                      <a:r>
                        <a:rPr sz="2100" b="0">
                          <a:solidFill>
                            <a:srgbClr val="192C24"/>
                          </a:solidFill>
                          <a:latin typeface="Arial"/>
                          <a:ea typeface="Arial"/>
                          <a:cs typeface="Arial"/>
                        </a:rPr>
                        <a:t>QA Leader</a:t>
                      </a:r>
                    </a:p>
                  </a:txBody>
                  <a:tcPr anchor="ctr">
                    <a:solidFill>
                      <a:srgbClr val="FFFFFF"/>
                    </a:solidFill>
                  </a:tcPr>
                </a:tc>
                <a:tc>
                  <a:txBody>
                    <a:bodyPr/>
                    <a:lstStyle/>
                    <a:p>
                      <a:r>
                        <a:rPr lang="en-US" dirty="0" err="1"/>
                        <a:t>Zhiao</a:t>
                      </a:r>
                      <a:r>
                        <a:rPr lang="en-US" dirty="0"/>
                        <a:t> Chu</a:t>
                      </a:r>
                      <a:endParaRPr dirty="0"/>
                    </a:p>
                  </a:txBody>
                  <a:tcPr anchor="ctr">
                    <a:solidFill>
                      <a:srgbClr val="FFFFFF"/>
                    </a:solidFill>
                  </a:tcPr>
                </a:tc>
                <a:extLst>
                  <a:ext uri="{0D108BD9-81ED-4DB2-BD59-A6C34878D82A}">
                    <a16:rowId xmlns:a16="http://schemas.microsoft.com/office/drawing/2014/main" val="10005"/>
                  </a:ext>
                </a:extLst>
              </a:tr>
              <a:tr h="628650">
                <a:tc>
                  <a:txBody>
                    <a:bodyPr/>
                    <a:lstStyle/>
                    <a:p>
                      <a:r>
                        <a:rPr sz="2100" b="0" dirty="0">
                          <a:solidFill>
                            <a:srgbClr val="192C24"/>
                          </a:solidFill>
                          <a:latin typeface="Arial"/>
                          <a:ea typeface="Arial"/>
                          <a:cs typeface="Arial"/>
                        </a:rPr>
                        <a:t>Security Leader</a:t>
                      </a:r>
                    </a:p>
                  </a:txBody>
                  <a:tcPr anchor="ctr">
                    <a:solidFill>
                      <a:srgbClr val="EDF3EE"/>
                    </a:solidFill>
                  </a:tcPr>
                </a:tc>
                <a:tc>
                  <a:txBody>
                    <a:bodyPr/>
                    <a:lstStyle/>
                    <a:p>
                      <a:r>
                        <a:rPr lang="en-US" dirty="0"/>
                        <a:t>Wenbo Fan</a:t>
                      </a:r>
                      <a:endParaRPr dirty="0"/>
                    </a:p>
                  </a:txBody>
                  <a:tcPr anchor="ctr">
                    <a:solidFill>
                      <a:srgbClr val="EDF3EE"/>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37314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Project idea">
            <a:extLst>
              <a:ext uri="{FF2B5EF4-FFF2-40B4-BE49-F238E27FC236}">
                <a16:creationId xmlns:a16="http://schemas.microsoft.com/office/drawing/2014/main" id="{32B3E9AD-9760-47E8-BBF5-E29E53528FA7}"/>
              </a:ext>
            </a:extLst>
          </p:cNvPr>
          <p:cNvSpPr>
            <a:spLocks noGrp="1"/>
          </p:cNvSpPr>
          <p:nvPr/>
        </p:nvSpPr>
        <p:spPr>
          <a:xfrm>
            <a:off x="609600" y="476250"/>
            <a:ext cx="10972800" cy="723900"/>
          </a:xfrm>
          <a:prstGeom prst="rect">
            <a:avLst/>
          </a:prstGeom>
          <a:noFill/>
          <a:ln w="0">
            <a:noFill/>
          </a:ln>
        </p:spPr>
        <p:txBody>
          <a:bodyPr wrap="square" lIns="0" tIns="0" rIns="0" bIns="0" anchor="t">
            <a:noAutofit/>
          </a:bodyPr>
          <a:lstStyle/>
          <a:p>
            <a:pPr algn="l">
              <a:defRPr sz="3450" b="1">
                <a:solidFill>
                  <a:srgbClr val="153F31"/>
                </a:solidFill>
                <a:latin typeface="Arial"/>
                <a:ea typeface="Arial"/>
                <a:cs typeface="Arial"/>
              </a:defRPr>
            </a:pPr>
            <a:r>
              <a:rPr sz="3450" b="1">
                <a:solidFill>
                  <a:srgbClr val="153F31"/>
                </a:solidFill>
                <a:latin typeface="Arial"/>
                <a:ea typeface="Arial"/>
                <a:cs typeface="Arial"/>
              </a:rPr>
              <a:t>Project idea</a:t>
            </a:r>
          </a:p>
        </p:txBody>
      </p:sp>
      <p:sp>
        <p:nvSpPr>
          <p:cNvPr id="2" name="A quick way to check the next train&#10;before heading">
            <a:extLst>
              <a:ext uri="{FF2B5EF4-FFF2-40B4-BE49-F238E27FC236}">
                <a16:creationId xmlns:a16="http://schemas.microsoft.com/office/drawing/2014/main" id="{494C4E6C-96AB-4848-856D-99E3286A7DDA}"/>
              </a:ext>
            </a:extLst>
          </p:cNvPr>
          <p:cNvSpPr>
            <a:spLocks noGrp="1"/>
          </p:cNvSpPr>
          <p:nvPr/>
        </p:nvSpPr>
        <p:spPr>
          <a:xfrm>
            <a:off x="609600" y="1562100"/>
            <a:ext cx="10858500" cy="1047750"/>
          </a:xfrm>
          <a:prstGeom prst="rect">
            <a:avLst/>
          </a:prstGeom>
          <a:noFill/>
          <a:ln w="0">
            <a:noFill/>
          </a:ln>
        </p:spPr>
        <p:txBody>
          <a:bodyPr wrap="square" lIns="0" tIns="0" rIns="0" bIns="0" anchor="t">
            <a:noAutofit/>
          </a:bodyPr>
          <a:lstStyle/>
          <a:p>
            <a:pPr algn="l">
              <a:defRPr sz="2850" b="1">
                <a:solidFill>
                  <a:srgbClr val="153F31"/>
                </a:solidFill>
                <a:latin typeface="Arial"/>
                <a:ea typeface="Arial"/>
                <a:cs typeface="Arial"/>
              </a:defRPr>
            </a:pPr>
            <a:r>
              <a:rPr sz="2850" b="1">
                <a:solidFill>
                  <a:srgbClr val="153F31"/>
                </a:solidFill>
                <a:latin typeface="Arial"/>
                <a:ea typeface="Arial"/>
                <a:cs typeface="Arial"/>
              </a:rPr>
              <a:t>A quick way to check the next train</a:t>
            </a:r>
          </a:p>
          <a:p>
            <a:pPr algn="l">
              <a:defRPr sz="2850" b="1">
                <a:solidFill>
                  <a:srgbClr val="153F31"/>
                </a:solidFill>
                <a:latin typeface="Arial"/>
                <a:ea typeface="Arial"/>
                <a:cs typeface="Arial"/>
              </a:defRPr>
            </a:pPr>
            <a:r>
              <a:rPr sz="2850" b="1">
                <a:solidFill>
                  <a:srgbClr val="153F31"/>
                </a:solidFill>
                <a:latin typeface="Arial"/>
                <a:ea typeface="Arial"/>
                <a:cs typeface="Arial"/>
              </a:rPr>
              <a:t>before heading to a stop.</a:t>
            </a:r>
          </a:p>
        </p:txBody>
      </p:sp>
      <p:sp>
        <p:nvSpPr>
          <p:cNvPr id="3" name="Initial users">
            <a:extLst>
              <a:ext uri="{FF2B5EF4-FFF2-40B4-BE49-F238E27FC236}">
                <a16:creationId xmlns:a16="http://schemas.microsoft.com/office/drawing/2014/main" id="{5D47699A-1268-4A8D-84B4-2AF904ECF14C}"/>
              </a:ext>
            </a:extLst>
          </p:cNvPr>
          <p:cNvSpPr>
            <a:spLocks noGrp="1"/>
          </p:cNvSpPr>
          <p:nvPr/>
        </p:nvSpPr>
        <p:spPr>
          <a:xfrm>
            <a:off x="609600" y="3209925"/>
            <a:ext cx="4857750" cy="428625"/>
          </a:xfrm>
          <a:prstGeom prst="rect">
            <a:avLst/>
          </a:prstGeom>
          <a:noFill/>
          <a:ln w="0">
            <a:noFill/>
          </a:ln>
        </p:spPr>
        <p:txBody>
          <a:bodyPr wrap="square" lIns="0" tIns="0" rIns="0" bIns="0" anchor="t">
            <a:noAutofit/>
          </a:bodyPr>
          <a:lstStyle/>
          <a:p>
            <a:pPr algn="l">
              <a:defRPr sz="2100" b="1">
                <a:solidFill>
                  <a:srgbClr val="176441"/>
                </a:solidFill>
                <a:latin typeface="Arial"/>
                <a:ea typeface="Arial"/>
                <a:cs typeface="Arial"/>
              </a:defRPr>
            </a:pPr>
            <a:r>
              <a:rPr sz="2100" b="1">
                <a:solidFill>
                  <a:srgbClr val="176441"/>
                </a:solidFill>
                <a:latin typeface="Arial"/>
                <a:ea typeface="Arial"/>
                <a:cs typeface="Arial"/>
              </a:rPr>
              <a:t>Initial users</a:t>
            </a:r>
          </a:p>
        </p:txBody>
      </p:sp>
      <p:sp>
        <p:nvSpPr>
          <p:cNvPr id="4" name="BU students and nearby riders&#10;who use the Green Li">
            <a:extLst>
              <a:ext uri="{FF2B5EF4-FFF2-40B4-BE49-F238E27FC236}">
                <a16:creationId xmlns:a16="http://schemas.microsoft.com/office/drawing/2014/main" id="{8A024D73-AE4A-4C79-9527-7600A9D69FAC}"/>
              </a:ext>
            </a:extLst>
          </p:cNvPr>
          <p:cNvSpPr>
            <a:spLocks noGrp="1"/>
          </p:cNvSpPr>
          <p:nvPr/>
        </p:nvSpPr>
        <p:spPr>
          <a:xfrm>
            <a:off x="609600" y="3800475"/>
            <a:ext cx="4857750" cy="1200150"/>
          </a:xfrm>
          <a:prstGeom prst="rect">
            <a:avLst/>
          </a:prstGeom>
          <a:noFill/>
          <a:ln w="0">
            <a:noFill/>
          </a:ln>
        </p:spPr>
        <p:txBody>
          <a:bodyPr wrap="square" lIns="0" tIns="0" rIns="0" bIns="0" anchor="t">
            <a:noAutofit/>
          </a:bodyPr>
          <a:lstStyle/>
          <a:p>
            <a:pPr algn="l">
              <a:defRPr sz="2250" b="0">
                <a:solidFill>
                  <a:srgbClr val="192C24"/>
                </a:solidFill>
                <a:latin typeface="Arial"/>
                <a:ea typeface="Arial"/>
                <a:cs typeface="Arial"/>
              </a:defRPr>
            </a:pPr>
            <a:r>
              <a:rPr sz="2250" b="0">
                <a:solidFill>
                  <a:srgbClr val="192C24"/>
                </a:solidFill>
                <a:latin typeface="Arial"/>
                <a:ea typeface="Arial"/>
                <a:cs typeface="Arial"/>
              </a:rPr>
              <a:t>BU students and nearby riders</a:t>
            </a:r>
          </a:p>
          <a:p>
            <a:pPr algn="l">
              <a:defRPr sz="2250" b="0">
                <a:solidFill>
                  <a:srgbClr val="192C24"/>
                </a:solidFill>
                <a:latin typeface="Arial"/>
                <a:ea typeface="Arial"/>
                <a:cs typeface="Arial"/>
              </a:defRPr>
            </a:pPr>
            <a:r>
              <a:rPr sz="2250" b="0">
                <a:solidFill>
                  <a:srgbClr val="192C24"/>
                </a:solidFill>
                <a:latin typeface="Arial"/>
                <a:ea typeface="Arial"/>
                <a:cs typeface="Arial"/>
              </a:rPr>
              <a:t>who use the Green Line.</a:t>
            </a:r>
          </a:p>
        </p:txBody>
      </p:sp>
      <p:sp>
        <p:nvSpPr>
          <p:cNvPr id="5" name="Example user story">
            <a:extLst>
              <a:ext uri="{FF2B5EF4-FFF2-40B4-BE49-F238E27FC236}">
                <a16:creationId xmlns:a16="http://schemas.microsoft.com/office/drawing/2014/main" id="{F7A978BC-E98A-4F97-B07F-ADBFFD015566}"/>
              </a:ext>
            </a:extLst>
          </p:cNvPr>
          <p:cNvSpPr>
            <a:spLocks noGrp="1"/>
          </p:cNvSpPr>
          <p:nvPr/>
        </p:nvSpPr>
        <p:spPr>
          <a:xfrm>
            <a:off x="6515100" y="3209925"/>
            <a:ext cx="5048250" cy="428625"/>
          </a:xfrm>
          <a:prstGeom prst="rect">
            <a:avLst/>
          </a:prstGeom>
          <a:noFill/>
          <a:ln w="0">
            <a:noFill/>
          </a:ln>
        </p:spPr>
        <p:txBody>
          <a:bodyPr wrap="square" lIns="0" tIns="0" rIns="0" bIns="0" anchor="t">
            <a:noAutofit/>
          </a:bodyPr>
          <a:lstStyle/>
          <a:p>
            <a:pPr algn="l">
              <a:defRPr sz="2100" b="1">
                <a:solidFill>
                  <a:srgbClr val="176441"/>
                </a:solidFill>
                <a:latin typeface="Arial"/>
                <a:ea typeface="Arial"/>
                <a:cs typeface="Arial"/>
              </a:defRPr>
            </a:pPr>
            <a:r>
              <a:rPr sz="2100" b="1">
                <a:solidFill>
                  <a:srgbClr val="176441"/>
                </a:solidFill>
                <a:latin typeface="Arial"/>
                <a:ea typeface="Arial"/>
                <a:cs typeface="Arial"/>
              </a:rPr>
              <a:t>Example user story</a:t>
            </a:r>
          </a:p>
        </p:txBody>
      </p:sp>
      <p:sp>
        <p:nvSpPr>
          <p:cNvPr id="6" name="“As a student, I want to see arrivals&#10;and alerts f">
            <a:extLst>
              <a:ext uri="{FF2B5EF4-FFF2-40B4-BE49-F238E27FC236}">
                <a16:creationId xmlns:a16="http://schemas.microsoft.com/office/drawing/2014/main" id="{982CDA77-56BF-4DFE-9235-00A7C914B39A}"/>
              </a:ext>
            </a:extLst>
          </p:cNvPr>
          <p:cNvSpPr>
            <a:spLocks noGrp="1"/>
          </p:cNvSpPr>
          <p:nvPr/>
        </p:nvSpPr>
        <p:spPr>
          <a:xfrm>
            <a:off x="6515100" y="3800475"/>
            <a:ext cx="5048250" cy="1524000"/>
          </a:xfrm>
          <a:prstGeom prst="rect">
            <a:avLst/>
          </a:prstGeom>
          <a:noFill/>
          <a:ln w="0">
            <a:noFill/>
          </a:ln>
        </p:spPr>
        <p:txBody>
          <a:bodyPr wrap="square" lIns="0" tIns="0" rIns="0" bIns="0" anchor="t">
            <a:noAutofit/>
          </a:bodyPr>
          <a:lstStyle/>
          <a:p>
            <a:pPr algn="l">
              <a:defRPr sz="2175" b="0">
                <a:solidFill>
                  <a:srgbClr val="192C24"/>
                </a:solidFill>
                <a:latin typeface="Arial"/>
                <a:ea typeface="Arial"/>
                <a:cs typeface="Arial"/>
              </a:defRPr>
            </a:pPr>
            <a:r>
              <a:rPr sz="2175" b="0">
                <a:solidFill>
                  <a:srgbClr val="192C24"/>
                </a:solidFill>
                <a:latin typeface="Arial"/>
                <a:ea typeface="Arial"/>
                <a:cs typeface="Arial"/>
              </a:rPr>
              <a:t>“As a student, I want to see arrivals</a:t>
            </a:r>
          </a:p>
          <a:p>
            <a:pPr algn="l">
              <a:defRPr sz="2175" b="0">
                <a:solidFill>
                  <a:srgbClr val="192C24"/>
                </a:solidFill>
                <a:latin typeface="Arial"/>
                <a:ea typeface="Arial"/>
                <a:cs typeface="Arial"/>
              </a:defRPr>
            </a:pPr>
            <a:r>
              <a:rPr sz="2175" b="0">
                <a:solidFill>
                  <a:srgbClr val="192C24"/>
                </a:solidFill>
                <a:latin typeface="Arial"/>
                <a:ea typeface="Arial"/>
                <a:cs typeface="Arial"/>
              </a:rPr>
              <a:t>and alerts for my stop so I can</a:t>
            </a:r>
          </a:p>
          <a:p>
            <a:pPr algn="l">
              <a:defRPr sz="2175" b="0">
                <a:solidFill>
                  <a:srgbClr val="192C24"/>
                </a:solidFill>
                <a:latin typeface="Arial"/>
                <a:ea typeface="Arial"/>
                <a:cs typeface="Arial"/>
              </a:defRPr>
            </a:pPr>
            <a:r>
              <a:rPr sz="2175" b="0">
                <a:solidFill>
                  <a:srgbClr val="192C24"/>
                </a:solidFill>
                <a:latin typeface="Arial"/>
                <a:ea typeface="Arial"/>
                <a:cs typeface="Arial"/>
              </a:rPr>
              <a:t>plan when to leave.”</a:t>
            </a:r>
          </a:p>
        </p:txBody>
      </p:sp>
      <p:sp>
        <p:nvSpPr>
          <p:cNvPr id="7" name="Proposed first demo: the Green Line B branch near ">
            <a:extLst>
              <a:ext uri="{FF2B5EF4-FFF2-40B4-BE49-F238E27FC236}">
                <a16:creationId xmlns:a16="http://schemas.microsoft.com/office/drawing/2014/main" id="{F9D5C335-C115-4BEE-B2C4-97590447AB69}"/>
              </a:ext>
            </a:extLst>
          </p:cNvPr>
          <p:cNvSpPr>
            <a:spLocks noGrp="1"/>
          </p:cNvSpPr>
          <p:nvPr/>
        </p:nvSpPr>
        <p:spPr>
          <a:xfrm>
            <a:off x="609600" y="5962650"/>
            <a:ext cx="10972800" cy="428625"/>
          </a:xfrm>
          <a:prstGeom prst="rect">
            <a:avLst/>
          </a:prstGeom>
          <a:noFill/>
          <a:ln w="0">
            <a:noFill/>
          </a:ln>
        </p:spPr>
        <p:txBody>
          <a:bodyPr wrap="square" lIns="0" tIns="0" rIns="0" bIns="0" anchor="t">
            <a:noAutofit/>
          </a:bodyPr>
          <a:lstStyle/>
          <a:p>
            <a:pPr algn="l">
              <a:defRPr sz="1950" b="0">
                <a:solidFill>
                  <a:srgbClr val="54665C"/>
                </a:solidFill>
                <a:latin typeface="Arial"/>
                <a:ea typeface="Arial"/>
                <a:cs typeface="Arial"/>
              </a:defRPr>
            </a:pPr>
            <a:endParaRPr sz="1950" b="0" dirty="0">
              <a:solidFill>
                <a:srgbClr val="54665C"/>
              </a:solidFill>
              <a:latin typeface="Arial"/>
              <a:ea typeface="Arial"/>
              <a:cs typeface="Arial"/>
            </a:endParaRPr>
          </a:p>
        </p:txBody>
      </p:sp>
    </p:spTree>
    <p:extLst>
      <p:ext uri="{BB962C8B-B14F-4D97-AF65-F5344CB8AC3E}">
        <p14:creationId xmlns:p14="http://schemas.microsoft.com/office/powerpoint/2010/main" val="1452633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25B370C-B901-9528-5871-78401E09ED0D}"/>
            </a:ext>
          </a:extLst>
        </p:cNvPr>
        <p:cNvGrpSpPr/>
        <p:nvPr/>
      </p:nvGrpSpPr>
      <p:grpSpPr>
        <a:xfrm>
          <a:off x="0" y="0"/>
          <a:ext cx="0" cy="0"/>
          <a:chOff x="0" y="0"/>
          <a:chExt cx="0" cy="0"/>
        </a:xfrm>
      </p:grpSpPr>
      <p:sp>
        <p:nvSpPr>
          <p:cNvPr id="8" name="Project idea">
            <a:extLst>
              <a:ext uri="{FF2B5EF4-FFF2-40B4-BE49-F238E27FC236}">
                <a16:creationId xmlns:a16="http://schemas.microsoft.com/office/drawing/2014/main" id="{94D22FAB-5176-BC36-338E-2C4F89D1E996}"/>
              </a:ext>
            </a:extLst>
          </p:cNvPr>
          <p:cNvSpPr>
            <a:spLocks noGrp="1"/>
          </p:cNvSpPr>
          <p:nvPr/>
        </p:nvSpPr>
        <p:spPr>
          <a:xfrm>
            <a:off x="609600" y="476250"/>
            <a:ext cx="10972800" cy="723900"/>
          </a:xfrm>
          <a:prstGeom prst="rect">
            <a:avLst/>
          </a:prstGeom>
          <a:noFill/>
          <a:ln w="0">
            <a:noFill/>
          </a:ln>
        </p:spPr>
        <p:txBody>
          <a:bodyPr wrap="square" lIns="0" tIns="0" rIns="0" bIns="0" anchor="t">
            <a:noAutofit/>
          </a:bodyPr>
          <a:lstStyle/>
          <a:p>
            <a:pPr algn="l">
              <a:defRPr sz="3450" b="1">
                <a:solidFill>
                  <a:srgbClr val="153F31"/>
                </a:solidFill>
                <a:latin typeface="Arial"/>
                <a:ea typeface="Arial"/>
                <a:cs typeface="Arial"/>
              </a:defRPr>
            </a:pPr>
            <a:r>
              <a:rPr sz="3450" b="1">
                <a:solidFill>
                  <a:srgbClr val="153F31"/>
                </a:solidFill>
                <a:latin typeface="Arial"/>
                <a:ea typeface="Arial"/>
                <a:cs typeface="Arial"/>
              </a:rPr>
              <a:t>Project idea</a:t>
            </a:r>
          </a:p>
        </p:txBody>
      </p:sp>
      <p:sp>
        <p:nvSpPr>
          <p:cNvPr id="2" name="A quick way to check the next train&#10;before heading">
            <a:extLst>
              <a:ext uri="{FF2B5EF4-FFF2-40B4-BE49-F238E27FC236}">
                <a16:creationId xmlns:a16="http://schemas.microsoft.com/office/drawing/2014/main" id="{7B03C02D-A3B7-E7A4-BFE4-8CC81748EBF8}"/>
              </a:ext>
            </a:extLst>
          </p:cNvPr>
          <p:cNvSpPr>
            <a:spLocks noGrp="1"/>
          </p:cNvSpPr>
          <p:nvPr/>
        </p:nvSpPr>
        <p:spPr>
          <a:xfrm>
            <a:off x="609600" y="1562100"/>
            <a:ext cx="10858500" cy="1047750"/>
          </a:xfrm>
          <a:prstGeom prst="rect">
            <a:avLst/>
          </a:prstGeom>
          <a:noFill/>
          <a:ln w="0">
            <a:noFill/>
          </a:ln>
        </p:spPr>
        <p:txBody>
          <a:bodyPr wrap="square" lIns="0" tIns="0" rIns="0" bIns="0" anchor="t">
            <a:noAutofit/>
          </a:bodyPr>
          <a:lstStyle/>
          <a:p>
            <a:pPr>
              <a:defRPr sz="1950" b="0">
                <a:solidFill>
                  <a:srgbClr val="54665C"/>
                </a:solidFill>
                <a:latin typeface="Arial"/>
                <a:ea typeface="Arial"/>
                <a:cs typeface="Arial"/>
              </a:defRPr>
            </a:pPr>
            <a:r>
              <a:rPr lang="en-US" sz="3200" dirty="0">
                <a:solidFill>
                  <a:srgbClr val="54665C"/>
                </a:solidFill>
                <a:latin typeface="Arial"/>
                <a:ea typeface="Arial"/>
                <a:cs typeface="Arial"/>
              </a:rPr>
              <a:t>Proposed first demo: the Green Line B branch near BU.</a:t>
            </a:r>
          </a:p>
        </p:txBody>
      </p:sp>
      <p:sp>
        <p:nvSpPr>
          <p:cNvPr id="7" name="Proposed first demo: the Green Line B branch near ">
            <a:extLst>
              <a:ext uri="{FF2B5EF4-FFF2-40B4-BE49-F238E27FC236}">
                <a16:creationId xmlns:a16="http://schemas.microsoft.com/office/drawing/2014/main" id="{5A3937CB-6A63-743D-F2E0-6B85008FA999}"/>
              </a:ext>
            </a:extLst>
          </p:cNvPr>
          <p:cNvSpPr>
            <a:spLocks noGrp="1"/>
          </p:cNvSpPr>
          <p:nvPr/>
        </p:nvSpPr>
        <p:spPr>
          <a:xfrm>
            <a:off x="609600" y="5962650"/>
            <a:ext cx="10972800" cy="428625"/>
          </a:xfrm>
          <a:prstGeom prst="rect">
            <a:avLst/>
          </a:prstGeom>
          <a:noFill/>
          <a:ln w="0">
            <a:noFill/>
          </a:ln>
        </p:spPr>
        <p:txBody>
          <a:bodyPr wrap="square" lIns="0" tIns="0" rIns="0" bIns="0" anchor="t">
            <a:noAutofit/>
          </a:bodyPr>
          <a:lstStyle/>
          <a:p>
            <a:pPr algn="l">
              <a:defRPr sz="1950" b="0">
                <a:solidFill>
                  <a:srgbClr val="54665C"/>
                </a:solidFill>
                <a:latin typeface="Arial"/>
                <a:ea typeface="Arial"/>
                <a:cs typeface="Arial"/>
              </a:defRPr>
            </a:pPr>
            <a:endParaRPr sz="1950" b="0" dirty="0">
              <a:solidFill>
                <a:srgbClr val="54665C"/>
              </a:solidFill>
              <a:latin typeface="Arial"/>
              <a:ea typeface="Arial"/>
              <a:cs typeface="Arial"/>
            </a:endParaRPr>
          </a:p>
        </p:txBody>
      </p:sp>
      <p:pic>
        <p:nvPicPr>
          <p:cNvPr id="9" name="Picture 8" descr="MBTA map redesigns | Bostonography">
            <a:extLst>
              <a:ext uri="{FF2B5EF4-FFF2-40B4-BE49-F238E27FC236}">
                <a16:creationId xmlns:a16="http://schemas.microsoft.com/office/drawing/2014/main" id="{1504BA40-111F-690A-D9FE-ED0BA6CC887E}"/>
              </a:ext>
            </a:extLst>
          </p:cNvPr>
          <p:cNvPicPr>
            <a:picLocks noChangeAspect="1"/>
          </p:cNvPicPr>
          <p:nvPr/>
        </p:nvPicPr>
        <p:blipFill>
          <a:blip r:embed="rId3"/>
          <a:stretch>
            <a:fillRect/>
          </a:stretch>
        </p:blipFill>
        <p:spPr>
          <a:xfrm>
            <a:off x="609600" y="2038350"/>
            <a:ext cx="4724400" cy="4724400"/>
          </a:xfrm>
          <a:prstGeom prst="rect">
            <a:avLst/>
          </a:prstGeom>
        </p:spPr>
      </p:pic>
      <p:pic>
        <p:nvPicPr>
          <p:cNvPr id="10" name="Picture 9" descr="2025 MBTA Green Line Map (Station Wall Panel Format) – MBTAgifts">
            <a:extLst>
              <a:ext uri="{FF2B5EF4-FFF2-40B4-BE49-F238E27FC236}">
                <a16:creationId xmlns:a16="http://schemas.microsoft.com/office/drawing/2014/main" id="{C414ADCE-C2D8-AB32-D6FC-3FC1BA64FF7C}"/>
              </a:ext>
            </a:extLst>
          </p:cNvPr>
          <p:cNvPicPr>
            <a:picLocks noChangeAspect="1"/>
          </p:cNvPicPr>
          <p:nvPr/>
        </p:nvPicPr>
        <p:blipFill>
          <a:blip r:embed="rId4"/>
          <a:stretch>
            <a:fillRect/>
          </a:stretch>
        </p:blipFill>
        <p:spPr>
          <a:xfrm>
            <a:off x="5975350" y="2085975"/>
            <a:ext cx="4578350" cy="4578350"/>
          </a:xfrm>
          <a:prstGeom prst="rect">
            <a:avLst/>
          </a:prstGeom>
        </p:spPr>
      </p:pic>
    </p:spTree>
    <p:extLst>
      <p:ext uri="{BB962C8B-B14F-4D97-AF65-F5344CB8AC3E}">
        <p14:creationId xmlns:p14="http://schemas.microsoft.com/office/powerpoint/2010/main" val="3597847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First version scope">
            <a:extLst>
              <a:ext uri="{FF2B5EF4-FFF2-40B4-BE49-F238E27FC236}">
                <a16:creationId xmlns:a16="http://schemas.microsoft.com/office/drawing/2014/main" id="{7F0D15E0-169B-42EB-AE04-77E4D03927AF}"/>
              </a:ext>
            </a:extLst>
          </p:cNvPr>
          <p:cNvSpPr>
            <a:spLocks noGrp="1"/>
          </p:cNvSpPr>
          <p:nvPr/>
        </p:nvSpPr>
        <p:spPr>
          <a:xfrm>
            <a:off x="609600" y="476250"/>
            <a:ext cx="10972800" cy="723900"/>
          </a:xfrm>
          <a:prstGeom prst="rect">
            <a:avLst/>
          </a:prstGeom>
          <a:noFill/>
          <a:ln w="0">
            <a:noFill/>
          </a:ln>
        </p:spPr>
        <p:txBody>
          <a:bodyPr wrap="square" lIns="0" tIns="0" rIns="0" bIns="0" anchor="t">
            <a:noAutofit/>
          </a:bodyPr>
          <a:lstStyle/>
          <a:p>
            <a:pPr algn="l">
              <a:defRPr sz="3450" b="1">
                <a:solidFill>
                  <a:srgbClr val="153F31"/>
                </a:solidFill>
                <a:latin typeface="Arial"/>
                <a:ea typeface="Arial"/>
                <a:cs typeface="Arial"/>
              </a:defRPr>
            </a:pPr>
            <a:r>
              <a:rPr sz="3450" b="1">
                <a:solidFill>
                  <a:srgbClr val="153F31"/>
                </a:solidFill>
                <a:latin typeface="Arial"/>
                <a:ea typeface="Arial"/>
                <a:cs typeface="Arial"/>
              </a:rPr>
              <a:t>First version scope</a:t>
            </a:r>
          </a:p>
        </p:txBody>
      </p:sp>
      <p:sp>
        <p:nvSpPr>
          <p:cNvPr id="2" name="Proposed scope for the group to confirm">
            <a:extLst>
              <a:ext uri="{FF2B5EF4-FFF2-40B4-BE49-F238E27FC236}">
                <a16:creationId xmlns:a16="http://schemas.microsoft.com/office/drawing/2014/main" id="{27ED5E0E-C36F-445A-9C52-2F6D96BE7C36}"/>
              </a:ext>
            </a:extLst>
          </p:cNvPr>
          <p:cNvSpPr>
            <a:spLocks noGrp="1"/>
          </p:cNvSpPr>
          <p:nvPr/>
        </p:nvSpPr>
        <p:spPr>
          <a:xfrm>
            <a:off x="609600" y="1247775"/>
            <a:ext cx="10972800" cy="428625"/>
          </a:xfrm>
          <a:prstGeom prst="rect">
            <a:avLst/>
          </a:prstGeom>
          <a:noFill/>
          <a:ln w="0">
            <a:noFill/>
          </a:ln>
        </p:spPr>
        <p:txBody>
          <a:bodyPr wrap="square" lIns="0" tIns="0" rIns="0" bIns="0" anchor="t">
            <a:noAutofit/>
          </a:bodyPr>
          <a:lstStyle/>
          <a:p>
            <a:pPr algn="l">
              <a:defRPr sz="1875" b="0">
                <a:solidFill>
                  <a:srgbClr val="54665C"/>
                </a:solidFill>
                <a:latin typeface="Arial"/>
                <a:ea typeface="Arial"/>
                <a:cs typeface="Arial"/>
              </a:defRPr>
            </a:pPr>
            <a:r>
              <a:rPr sz="1875" b="0">
                <a:solidFill>
                  <a:srgbClr val="54665C"/>
                </a:solidFill>
                <a:latin typeface="Arial"/>
                <a:ea typeface="Arial"/>
                <a:cs typeface="Arial"/>
              </a:rPr>
              <a:t>Proposed scope for the group to confirm</a:t>
            </a:r>
          </a:p>
        </p:txBody>
      </p:sp>
      <p:sp>
        <p:nvSpPr>
          <p:cNvPr id="3" name="Core features">
            <a:extLst>
              <a:ext uri="{FF2B5EF4-FFF2-40B4-BE49-F238E27FC236}">
                <a16:creationId xmlns:a16="http://schemas.microsoft.com/office/drawing/2014/main" id="{D497C49D-4FD2-44CE-BB45-0E7352E6F624}"/>
              </a:ext>
            </a:extLst>
          </p:cNvPr>
          <p:cNvSpPr>
            <a:spLocks noGrp="1"/>
          </p:cNvSpPr>
          <p:nvPr/>
        </p:nvSpPr>
        <p:spPr>
          <a:xfrm>
            <a:off x="609600" y="2009775"/>
            <a:ext cx="6286500" cy="457200"/>
          </a:xfrm>
          <a:prstGeom prst="rect">
            <a:avLst/>
          </a:prstGeom>
          <a:noFill/>
          <a:ln w="0">
            <a:noFill/>
          </a:ln>
        </p:spPr>
        <p:txBody>
          <a:bodyPr wrap="square" lIns="0" tIns="0" rIns="0" bIns="0" anchor="t">
            <a:noAutofit/>
          </a:bodyPr>
          <a:lstStyle/>
          <a:p>
            <a:pPr algn="l">
              <a:defRPr sz="2175" b="1">
                <a:solidFill>
                  <a:srgbClr val="176441"/>
                </a:solidFill>
                <a:latin typeface="Arial"/>
                <a:ea typeface="Arial"/>
                <a:cs typeface="Arial"/>
              </a:defRPr>
            </a:pPr>
            <a:r>
              <a:rPr sz="2175" b="1">
                <a:solidFill>
                  <a:srgbClr val="176441"/>
                </a:solidFill>
                <a:latin typeface="Arial"/>
                <a:ea typeface="Arial"/>
                <a:cs typeface="Arial"/>
              </a:rPr>
              <a:t>Core features</a:t>
            </a:r>
          </a:p>
        </p:txBody>
      </p:sp>
      <p:sp>
        <p:nvSpPr>
          <p:cNvPr id="4" name="Rectangle 3">
            <a:extLst>
              <a:ext uri="{FF2B5EF4-FFF2-40B4-BE49-F238E27FC236}">
                <a16:creationId xmlns:a16="http://schemas.microsoft.com/office/drawing/2014/main" id="{DFA1AD01-BD9C-4EA2-AF61-77289C2AC948}"/>
              </a:ext>
            </a:extLst>
          </p:cNvPr>
          <p:cNvSpPr>
            <a:spLocks noGrp="1"/>
          </p:cNvSpPr>
          <p:nvPr/>
        </p:nvSpPr>
        <p:spPr>
          <a:xfrm>
            <a:off x="609600" y="2724150"/>
            <a:ext cx="6419850" cy="2857500"/>
          </a:xfrm>
          <a:prstGeom prst="rect">
            <a:avLst/>
          </a:prstGeom>
          <a:noFill/>
          <a:ln w="0">
            <a:noFill/>
          </a:ln>
        </p:spPr>
        <p:txBody>
          <a:bodyPr wrap="square" lIns="0" tIns="0" rIns="0" bIns="0" anchor="t">
            <a:noAutofit/>
          </a:bodyPr>
          <a:lstStyle/>
          <a:p>
            <a:pPr marL="241300" indent="-127000" algn="l">
              <a:spcAft>
                <a:spcPts val="2400"/>
              </a:spcAft>
              <a:buChar char="•"/>
              <a:defRPr sz="2175" b="0">
                <a:solidFill>
                  <a:srgbClr val="192C24"/>
                </a:solidFill>
                <a:latin typeface="Arial"/>
                <a:ea typeface="Arial"/>
                <a:cs typeface="Arial"/>
              </a:defRPr>
            </a:pPr>
            <a:r>
              <a:rPr sz="2175" b="0">
                <a:solidFill>
                  <a:srgbClr val="192C24"/>
                </a:solidFill>
                <a:latin typeface="Arial"/>
                <a:ea typeface="Arial"/>
                <a:cs typeface="Arial"/>
              </a:rPr>
              <a:t>Choose a route, direction, and stop.</a:t>
            </a:r>
          </a:p>
          <a:p>
            <a:pPr marL="241300" indent="-127000" algn="l">
              <a:spcAft>
                <a:spcPts val="2400"/>
              </a:spcAft>
              <a:buChar char="•"/>
              <a:defRPr sz="2175" b="0">
                <a:solidFill>
                  <a:srgbClr val="192C24"/>
                </a:solidFill>
                <a:latin typeface="Arial"/>
                <a:ea typeface="Arial"/>
                <a:cs typeface="Arial"/>
              </a:defRPr>
            </a:pPr>
            <a:r>
              <a:rPr sz="2175" b="0">
                <a:solidFill>
                  <a:srgbClr val="192C24"/>
                </a:solidFill>
                <a:latin typeface="Arial"/>
                <a:ea typeface="Arial"/>
                <a:cs typeface="Arial"/>
              </a:rPr>
              <a:t>See up to three upcoming predictions.</a:t>
            </a:r>
          </a:p>
          <a:p>
            <a:pPr marL="241300" indent="-127000" algn="l">
              <a:spcAft>
                <a:spcPts val="2400"/>
              </a:spcAft>
              <a:buChar char="•"/>
              <a:defRPr sz="2175" b="0">
                <a:solidFill>
                  <a:srgbClr val="192C24"/>
                </a:solidFill>
                <a:latin typeface="Arial"/>
                <a:ea typeface="Arial"/>
                <a:cs typeface="Arial"/>
              </a:defRPr>
            </a:pPr>
            <a:r>
              <a:rPr sz="2175" b="0">
                <a:solidFill>
                  <a:srgbClr val="192C24"/>
                </a:solidFill>
                <a:latin typeface="Arial"/>
                <a:ea typeface="Arial"/>
                <a:cs typeface="Arial"/>
              </a:rPr>
              <a:t>Read alerts for the selected route.</a:t>
            </a:r>
          </a:p>
          <a:p>
            <a:pPr marL="241300" indent="-127000" algn="l">
              <a:spcAft>
                <a:spcPts val="2400"/>
              </a:spcAft>
              <a:buChar char="•"/>
              <a:defRPr sz="2175" b="0">
                <a:solidFill>
                  <a:srgbClr val="192C24"/>
                </a:solidFill>
                <a:latin typeface="Arial"/>
                <a:ea typeface="Arial"/>
                <a:cs typeface="Arial"/>
              </a:defRPr>
            </a:pPr>
            <a:r>
              <a:rPr sz="2175" b="0">
                <a:solidFill>
                  <a:srgbClr val="192C24"/>
                </a:solidFill>
                <a:latin typeface="Arial"/>
                <a:ea typeface="Arial"/>
                <a:cs typeface="Arial"/>
              </a:rPr>
              <a:t>Save favorite stops in this browser.</a:t>
            </a:r>
          </a:p>
        </p:txBody>
      </p:sp>
      <p:sp>
        <p:nvSpPr>
          <p:cNvPr id="5" name="Possible additions">
            <a:extLst>
              <a:ext uri="{FF2B5EF4-FFF2-40B4-BE49-F238E27FC236}">
                <a16:creationId xmlns:a16="http://schemas.microsoft.com/office/drawing/2014/main" id="{CA563A29-4668-4EFF-9787-D3EF06AA56BB}"/>
              </a:ext>
            </a:extLst>
          </p:cNvPr>
          <p:cNvSpPr>
            <a:spLocks noGrp="1"/>
          </p:cNvSpPr>
          <p:nvPr/>
        </p:nvSpPr>
        <p:spPr>
          <a:xfrm>
            <a:off x="7867650" y="2009775"/>
            <a:ext cx="3714750" cy="457200"/>
          </a:xfrm>
          <a:prstGeom prst="rect">
            <a:avLst/>
          </a:prstGeom>
          <a:noFill/>
          <a:ln w="0">
            <a:noFill/>
          </a:ln>
        </p:spPr>
        <p:txBody>
          <a:bodyPr wrap="square" lIns="0" tIns="0" rIns="0" bIns="0" anchor="t">
            <a:noAutofit/>
          </a:bodyPr>
          <a:lstStyle/>
          <a:p>
            <a:pPr algn="l">
              <a:defRPr sz="2100" b="1">
                <a:solidFill>
                  <a:srgbClr val="176441"/>
                </a:solidFill>
                <a:latin typeface="Arial"/>
                <a:ea typeface="Arial"/>
                <a:cs typeface="Arial"/>
              </a:defRPr>
            </a:pPr>
            <a:r>
              <a:rPr sz="2100" b="1">
                <a:solidFill>
                  <a:srgbClr val="176441"/>
                </a:solidFill>
                <a:latin typeface="Arial"/>
                <a:ea typeface="Arial"/>
                <a:cs typeface="Arial"/>
              </a:rPr>
              <a:t>Possible additions</a:t>
            </a:r>
          </a:p>
        </p:txBody>
      </p:sp>
      <p:sp>
        <p:nvSpPr>
          <p:cNvPr id="6" name="Rectangle 5">
            <a:extLst>
              <a:ext uri="{FF2B5EF4-FFF2-40B4-BE49-F238E27FC236}">
                <a16:creationId xmlns:a16="http://schemas.microsoft.com/office/drawing/2014/main" id="{F301AF98-2AD5-494F-B6C7-F1AD4D71623C}"/>
              </a:ext>
            </a:extLst>
          </p:cNvPr>
          <p:cNvSpPr>
            <a:spLocks noGrp="1"/>
          </p:cNvSpPr>
          <p:nvPr/>
        </p:nvSpPr>
        <p:spPr>
          <a:xfrm>
            <a:off x="7867650" y="2628900"/>
            <a:ext cx="3714750" cy="1238250"/>
          </a:xfrm>
          <a:prstGeom prst="rect">
            <a:avLst/>
          </a:prstGeom>
          <a:noFill/>
          <a:ln w="0">
            <a:noFill/>
          </a:ln>
        </p:spPr>
        <p:txBody>
          <a:bodyPr wrap="square" lIns="0" tIns="0" rIns="0" bIns="0" anchor="t">
            <a:noAutofit/>
          </a:bodyPr>
          <a:lstStyle/>
          <a:p>
            <a:pPr marL="241300" indent="-127000" algn="l">
              <a:spcAft>
                <a:spcPts val="1200"/>
              </a:spcAft>
              <a:buChar char="•"/>
              <a:defRPr sz="1950" b="0">
                <a:solidFill>
                  <a:srgbClr val="192C24"/>
                </a:solidFill>
                <a:latin typeface="Arial"/>
                <a:ea typeface="Arial"/>
                <a:cs typeface="Arial"/>
              </a:defRPr>
            </a:pPr>
            <a:r>
              <a:rPr sz="1950" b="0">
                <a:solidFill>
                  <a:srgbClr val="192C24"/>
                </a:solidFill>
                <a:latin typeface="Arial"/>
                <a:ea typeface="Arial"/>
                <a:cs typeface="Arial"/>
              </a:rPr>
              <a:t>Additional subway lines</a:t>
            </a:r>
          </a:p>
          <a:p>
            <a:pPr marL="241300" indent="-127000" algn="l">
              <a:spcAft>
                <a:spcPts val="1200"/>
              </a:spcAft>
              <a:buChar char="•"/>
              <a:defRPr sz="1950" b="0">
                <a:solidFill>
                  <a:srgbClr val="192C24"/>
                </a:solidFill>
                <a:latin typeface="Arial"/>
                <a:ea typeface="Arial"/>
                <a:cs typeface="Arial"/>
              </a:defRPr>
            </a:pPr>
            <a:r>
              <a:rPr sz="1950" b="0">
                <a:solidFill>
                  <a:srgbClr val="192C24"/>
                </a:solidFill>
                <a:latin typeface="Arial"/>
                <a:ea typeface="Arial"/>
                <a:cs typeface="Arial"/>
              </a:rPr>
              <a:t>A simple vehicle map</a:t>
            </a:r>
          </a:p>
        </p:txBody>
      </p:sp>
      <p:sp>
        <p:nvSpPr>
          <p:cNvPr id="7" name="Outside the first version">
            <a:extLst>
              <a:ext uri="{FF2B5EF4-FFF2-40B4-BE49-F238E27FC236}">
                <a16:creationId xmlns:a16="http://schemas.microsoft.com/office/drawing/2014/main" id="{305FA53F-92B3-4F40-9631-A6F1911840B7}"/>
              </a:ext>
            </a:extLst>
          </p:cNvPr>
          <p:cNvSpPr>
            <a:spLocks noGrp="1"/>
          </p:cNvSpPr>
          <p:nvPr/>
        </p:nvSpPr>
        <p:spPr>
          <a:xfrm>
            <a:off x="7867650" y="4229100"/>
            <a:ext cx="3714750" cy="457200"/>
          </a:xfrm>
          <a:prstGeom prst="rect">
            <a:avLst/>
          </a:prstGeom>
          <a:noFill/>
          <a:ln w="0">
            <a:noFill/>
          </a:ln>
        </p:spPr>
        <p:txBody>
          <a:bodyPr wrap="square" lIns="0" tIns="0" rIns="0" bIns="0" anchor="t">
            <a:noAutofit/>
          </a:bodyPr>
          <a:lstStyle/>
          <a:p>
            <a:pPr algn="l">
              <a:defRPr sz="2025" b="1">
                <a:solidFill>
                  <a:srgbClr val="176441"/>
                </a:solidFill>
                <a:latin typeface="Arial"/>
                <a:ea typeface="Arial"/>
                <a:cs typeface="Arial"/>
              </a:defRPr>
            </a:pPr>
            <a:r>
              <a:rPr sz="2025" b="1">
                <a:solidFill>
                  <a:srgbClr val="176441"/>
                </a:solidFill>
                <a:latin typeface="Arial"/>
                <a:ea typeface="Arial"/>
                <a:cs typeface="Arial"/>
              </a:rPr>
              <a:t>Outside the first version</a:t>
            </a:r>
          </a:p>
        </p:txBody>
      </p:sp>
      <p:sp>
        <p:nvSpPr>
          <p:cNvPr id="8" name="Rectangle 7">
            <a:extLst>
              <a:ext uri="{FF2B5EF4-FFF2-40B4-BE49-F238E27FC236}">
                <a16:creationId xmlns:a16="http://schemas.microsoft.com/office/drawing/2014/main" id="{4A03E195-4436-4BAC-BE18-222CAEA128EE}"/>
              </a:ext>
            </a:extLst>
          </p:cNvPr>
          <p:cNvSpPr>
            <a:spLocks noGrp="1"/>
          </p:cNvSpPr>
          <p:nvPr/>
        </p:nvSpPr>
        <p:spPr>
          <a:xfrm>
            <a:off x="7867650" y="4848225"/>
            <a:ext cx="3714750" cy="1485900"/>
          </a:xfrm>
          <a:prstGeom prst="rect">
            <a:avLst/>
          </a:prstGeom>
          <a:noFill/>
          <a:ln w="0">
            <a:noFill/>
          </a:ln>
        </p:spPr>
        <p:txBody>
          <a:bodyPr wrap="square" lIns="0" tIns="0" rIns="0" bIns="0" anchor="t">
            <a:noAutofit/>
          </a:bodyPr>
          <a:lstStyle/>
          <a:p>
            <a:pPr marL="241300" indent="-127000" algn="l">
              <a:spcAft>
                <a:spcPts val="1100"/>
              </a:spcAft>
              <a:buChar char="•"/>
              <a:defRPr sz="1875" b="0">
                <a:solidFill>
                  <a:srgbClr val="192C24"/>
                </a:solidFill>
                <a:latin typeface="Arial"/>
                <a:ea typeface="Arial"/>
                <a:cs typeface="Arial"/>
              </a:defRPr>
            </a:pPr>
            <a:r>
              <a:rPr sz="1875" b="0" dirty="0">
                <a:solidFill>
                  <a:srgbClr val="192C24"/>
                </a:solidFill>
                <a:latin typeface="Arial"/>
                <a:ea typeface="Arial"/>
                <a:cs typeface="Arial"/>
              </a:rPr>
              <a:t>Accounts and trip planning</a:t>
            </a:r>
          </a:p>
          <a:p>
            <a:pPr marL="241300" indent="-127000" algn="l">
              <a:spcAft>
                <a:spcPts val="1100"/>
              </a:spcAft>
              <a:buChar char="•"/>
              <a:defRPr sz="1875" b="0">
                <a:solidFill>
                  <a:srgbClr val="192C24"/>
                </a:solidFill>
                <a:latin typeface="Arial"/>
                <a:ea typeface="Arial"/>
                <a:cs typeface="Arial"/>
              </a:defRPr>
            </a:pPr>
            <a:r>
              <a:rPr sz="1875" b="0" dirty="0">
                <a:solidFill>
                  <a:srgbClr val="192C24"/>
                </a:solidFill>
                <a:latin typeface="Arial"/>
                <a:ea typeface="Arial"/>
                <a:cs typeface="Arial"/>
              </a:rPr>
              <a:t>Push notifications</a:t>
            </a:r>
          </a:p>
          <a:p>
            <a:pPr marL="241300" indent="-127000" algn="l">
              <a:spcAft>
                <a:spcPts val="1100"/>
              </a:spcAft>
              <a:buChar char="•"/>
              <a:defRPr sz="1875" b="0">
                <a:solidFill>
                  <a:srgbClr val="192C24"/>
                </a:solidFill>
                <a:latin typeface="Arial"/>
                <a:ea typeface="Arial"/>
                <a:cs typeface="Arial"/>
              </a:defRPr>
            </a:pPr>
            <a:r>
              <a:rPr sz="1875" b="0" dirty="0">
                <a:solidFill>
                  <a:srgbClr val="192C24"/>
                </a:solidFill>
                <a:latin typeface="Arial"/>
                <a:ea typeface="Arial"/>
                <a:cs typeface="Arial"/>
              </a:rPr>
              <a:t>Our own prediction model</a:t>
            </a:r>
          </a:p>
        </p:txBody>
      </p:sp>
    </p:spTree>
    <p:extLst>
      <p:ext uri="{BB962C8B-B14F-4D97-AF65-F5344CB8AC3E}">
        <p14:creationId xmlns:p14="http://schemas.microsoft.com/office/powerpoint/2010/main" val="912074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Official MBTA data">
            <a:extLst>
              <a:ext uri="{FF2B5EF4-FFF2-40B4-BE49-F238E27FC236}">
                <a16:creationId xmlns:a16="http://schemas.microsoft.com/office/drawing/2014/main" id="{49395372-7F89-49D9-AE03-949F96EFE319}"/>
              </a:ext>
            </a:extLst>
          </p:cNvPr>
          <p:cNvSpPr>
            <a:spLocks noGrp="1"/>
          </p:cNvSpPr>
          <p:nvPr/>
        </p:nvSpPr>
        <p:spPr>
          <a:xfrm>
            <a:off x="609600" y="476250"/>
            <a:ext cx="10972800" cy="723900"/>
          </a:xfrm>
          <a:prstGeom prst="rect">
            <a:avLst/>
          </a:prstGeom>
          <a:noFill/>
          <a:ln w="0">
            <a:noFill/>
          </a:ln>
        </p:spPr>
        <p:txBody>
          <a:bodyPr wrap="square" lIns="0" tIns="0" rIns="0" bIns="0" anchor="t">
            <a:noAutofit/>
          </a:bodyPr>
          <a:lstStyle/>
          <a:p>
            <a:pPr algn="l">
              <a:defRPr sz="3450" b="1">
                <a:solidFill>
                  <a:srgbClr val="153F31"/>
                </a:solidFill>
                <a:latin typeface="Arial"/>
                <a:ea typeface="Arial"/>
                <a:cs typeface="Arial"/>
              </a:defRPr>
            </a:pPr>
            <a:r>
              <a:rPr sz="3450" b="1">
                <a:solidFill>
                  <a:srgbClr val="153F31"/>
                </a:solidFill>
                <a:latin typeface="Arial"/>
                <a:ea typeface="Arial"/>
                <a:cs typeface="Arial"/>
              </a:rPr>
              <a:t>Official MBTA data</a:t>
            </a:r>
          </a:p>
        </p:txBody>
      </p:sp>
      <p:sp>
        <p:nvSpPr>
          <p:cNvPr id="2" name="The MBTA V3 API supplies the transit information">
            <a:extLst>
              <a:ext uri="{FF2B5EF4-FFF2-40B4-BE49-F238E27FC236}">
                <a16:creationId xmlns:a16="http://schemas.microsoft.com/office/drawing/2014/main" id="{3817F407-DD34-4ABB-B6E6-E3AB24F5DDFE}"/>
              </a:ext>
            </a:extLst>
          </p:cNvPr>
          <p:cNvSpPr>
            <a:spLocks noGrp="1"/>
          </p:cNvSpPr>
          <p:nvPr/>
        </p:nvSpPr>
        <p:spPr>
          <a:xfrm>
            <a:off x="609600" y="1247775"/>
            <a:ext cx="10972800" cy="428625"/>
          </a:xfrm>
          <a:prstGeom prst="rect">
            <a:avLst/>
          </a:prstGeom>
          <a:noFill/>
          <a:ln w="0">
            <a:noFill/>
          </a:ln>
        </p:spPr>
        <p:txBody>
          <a:bodyPr wrap="square" lIns="0" tIns="0" rIns="0" bIns="0" anchor="t">
            <a:noAutofit/>
          </a:bodyPr>
          <a:lstStyle/>
          <a:p>
            <a:pPr algn="l">
              <a:defRPr sz="1875" b="0">
                <a:solidFill>
                  <a:srgbClr val="54665C"/>
                </a:solidFill>
                <a:latin typeface="Arial"/>
                <a:ea typeface="Arial"/>
                <a:cs typeface="Arial"/>
              </a:defRPr>
            </a:pPr>
            <a:r>
              <a:rPr sz="1875" b="0">
                <a:solidFill>
                  <a:srgbClr val="54665C"/>
                </a:solidFill>
                <a:latin typeface="Arial"/>
                <a:ea typeface="Arial"/>
                <a:cs typeface="Arial"/>
              </a:rPr>
              <a:t>The MBTA V3 API supplies the transit information</a:t>
            </a:r>
          </a:p>
        </p:txBody>
      </p:sp>
      <p:graphicFrame>
        <p:nvGraphicFramePr>
          <p:cNvPr id="8" name="Table 7"/>
          <p:cNvGraphicFramePr/>
          <p:nvPr/>
        </p:nvGraphicFramePr>
        <p:xfrm>
          <a:off x="609600" y="1952625"/>
          <a:ext cx="10972800" cy="3190875"/>
        </p:xfrm>
        <a:graphic>
          <a:graphicData uri="http://schemas.openxmlformats.org/drawingml/2006/table">
            <a:tbl>
              <a:tblPr firstRow="1"/>
              <a:tblGrid>
                <a:gridCol w="2952750">
                  <a:extLst>
                    <a:ext uri="{9D8B030D-6E8A-4147-A177-3AD203B41FA5}">
                      <a16:colId xmlns:a16="http://schemas.microsoft.com/office/drawing/2014/main" val="20000"/>
                    </a:ext>
                  </a:extLst>
                </a:gridCol>
                <a:gridCol w="8020050">
                  <a:extLst>
                    <a:ext uri="{9D8B030D-6E8A-4147-A177-3AD203B41FA5}">
                      <a16:colId xmlns:a16="http://schemas.microsoft.com/office/drawing/2014/main" val="20001"/>
                    </a:ext>
                  </a:extLst>
                </a:gridCol>
              </a:tblGrid>
              <a:tr h="638175">
                <a:tc>
                  <a:txBody>
                    <a:bodyPr/>
                    <a:lstStyle/>
                    <a:p>
                      <a:r>
                        <a:rPr sz="2100" b="1">
                          <a:solidFill>
                            <a:srgbClr val="FFFFFF"/>
                          </a:solidFill>
                          <a:latin typeface="Arial"/>
                          <a:ea typeface="Arial"/>
                          <a:cs typeface="Arial"/>
                        </a:rPr>
                        <a:t>Endpoint</a:t>
                      </a:r>
                    </a:p>
                  </a:txBody>
                  <a:tcPr anchor="ctr">
                    <a:solidFill>
                      <a:srgbClr val="153F31"/>
                    </a:solidFill>
                  </a:tcPr>
                </a:tc>
                <a:tc>
                  <a:txBody>
                    <a:bodyPr/>
                    <a:lstStyle/>
                    <a:p>
                      <a:r>
                        <a:rPr sz="2100" b="1">
                          <a:solidFill>
                            <a:srgbClr val="FFFFFF"/>
                          </a:solidFill>
                          <a:latin typeface="Arial"/>
                          <a:ea typeface="Arial"/>
                          <a:cs typeface="Arial"/>
                        </a:rPr>
                        <a:t>How we plan to use it</a:t>
                      </a:r>
                    </a:p>
                  </a:txBody>
                  <a:tcPr anchor="ctr">
                    <a:solidFill>
                      <a:srgbClr val="153F31"/>
                    </a:solidFill>
                  </a:tcPr>
                </a:tc>
                <a:extLst>
                  <a:ext uri="{0D108BD9-81ED-4DB2-BD59-A6C34878D82A}">
                    <a16:rowId xmlns:a16="http://schemas.microsoft.com/office/drawing/2014/main" val="10000"/>
                  </a:ext>
                </a:extLst>
              </a:tr>
              <a:tr h="638175">
                <a:tc>
                  <a:txBody>
                    <a:bodyPr/>
                    <a:lstStyle/>
                    <a:p>
                      <a:r>
                        <a:rPr sz="2100" b="0">
                          <a:solidFill>
                            <a:srgbClr val="192C24"/>
                          </a:solidFill>
                          <a:latin typeface="Arial"/>
                          <a:ea typeface="Arial"/>
                          <a:cs typeface="Arial"/>
                        </a:rPr>
                        <a:t>/routes</a:t>
                      </a:r>
                    </a:p>
                  </a:txBody>
                  <a:tcPr anchor="ctr">
                    <a:solidFill>
                      <a:srgbClr val="FFFFFF"/>
                    </a:solidFill>
                  </a:tcPr>
                </a:tc>
                <a:tc>
                  <a:txBody>
                    <a:bodyPr/>
                    <a:lstStyle/>
                    <a:p>
                      <a:r>
                        <a:rPr sz="2100" b="0">
                          <a:solidFill>
                            <a:srgbClr val="192C24"/>
                          </a:solidFill>
                          <a:latin typeface="Arial"/>
                          <a:ea typeface="Arial"/>
                          <a:cs typeface="Arial"/>
                        </a:rPr>
                        <a:t>Route names and direction labels</a:t>
                      </a:r>
                    </a:p>
                  </a:txBody>
                  <a:tcPr anchor="ctr">
                    <a:solidFill>
                      <a:srgbClr val="FFFFFF"/>
                    </a:solidFill>
                  </a:tcPr>
                </a:tc>
                <a:extLst>
                  <a:ext uri="{0D108BD9-81ED-4DB2-BD59-A6C34878D82A}">
                    <a16:rowId xmlns:a16="http://schemas.microsoft.com/office/drawing/2014/main" val="10001"/>
                  </a:ext>
                </a:extLst>
              </a:tr>
              <a:tr h="638175">
                <a:tc>
                  <a:txBody>
                    <a:bodyPr/>
                    <a:lstStyle/>
                    <a:p>
                      <a:r>
                        <a:rPr sz="2100" b="0">
                          <a:solidFill>
                            <a:srgbClr val="192C24"/>
                          </a:solidFill>
                          <a:latin typeface="Arial"/>
                          <a:ea typeface="Arial"/>
                          <a:cs typeface="Arial"/>
                        </a:rPr>
                        <a:t>/stops</a:t>
                      </a:r>
                    </a:p>
                  </a:txBody>
                  <a:tcPr anchor="ctr">
                    <a:solidFill>
                      <a:srgbClr val="EDF3EE"/>
                    </a:solidFill>
                  </a:tcPr>
                </a:tc>
                <a:tc>
                  <a:txBody>
                    <a:bodyPr/>
                    <a:lstStyle/>
                    <a:p>
                      <a:r>
                        <a:rPr sz="2100" b="0">
                          <a:solidFill>
                            <a:srgbClr val="192C24"/>
                          </a:solidFill>
                          <a:latin typeface="Arial"/>
                          <a:ea typeface="Arial"/>
                          <a:cs typeface="Arial"/>
                        </a:rPr>
                        <a:t>Stops associated with a selected route</a:t>
                      </a:r>
                    </a:p>
                  </a:txBody>
                  <a:tcPr anchor="ctr">
                    <a:solidFill>
                      <a:srgbClr val="EDF3EE"/>
                    </a:solidFill>
                  </a:tcPr>
                </a:tc>
                <a:extLst>
                  <a:ext uri="{0D108BD9-81ED-4DB2-BD59-A6C34878D82A}">
                    <a16:rowId xmlns:a16="http://schemas.microsoft.com/office/drawing/2014/main" val="10002"/>
                  </a:ext>
                </a:extLst>
              </a:tr>
              <a:tr h="638175">
                <a:tc>
                  <a:txBody>
                    <a:bodyPr/>
                    <a:lstStyle/>
                    <a:p>
                      <a:r>
                        <a:rPr sz="2100" b="0">
                          <a:solidFill>
                            <a:srgbClr val="192C24"/>
                          </a:solidFill>
                          <a:latin typeface="Arial"/>
                          <a:ea typeface="Arial"/>
                          <a:cs typeface="Arial"/>
                        </a:rPr>
                        <a:t>/predictions</a:t>
                      </a:r>
                    </a:p>
                  </a:txBody>
                  <a:tcPr anchor="ctr">
                    <a:solidFill>
                      <a:srgbClr val="FFFFFF"/>
                    </a:solidFill>
                  </a:tcPr>
                </a:tc>
                <a:tc>
                  <a:txBody>
                    <a:bodyPr/>
                    <a:lstStyle/>
                    <a:p>
                      <a:r>
                        <a:rPr sz="2100" b="0">
                          <a:solidFill>
                            <a:srgbClr val="192C24"/>
                          </a:solidFill>
                          <a:latin typeface="Arial"/>
                          <a:ea typeface="Arial"/>
                          <a:cs typeface="Arial"/>
                        </a:rPr>
                        <a:t>Estimated arrival and departure times</a:t>
                      </a:r>
                    </a:p>
                  </a:txBody>
                  <a:tcPr anchor="ctr">
                    <a:solidFill>
                      <a:srgbClr val="FFFFFF"/>
                    </a:solidFill>
                  </a:tcPr>
                </a:tc>
                <a:extLst>
                  <a:ext uri="{0D108BD9-81ED-4DB2-BD59-A6C34878D82A}">
                    <a16:rowId xmlns:a16="http://schemas.microsoft.com/office/drawing/2014/main" val="10003"/>
                  </a:ext>
                </a:extLst>
              </a:tr>
              <a:tr h="638175">
                <a:tc>
                  <a:txBody>
                    <a:bodyPr/>
                    <a:lstStyle/>
                    <a:p>
                      <a:r>
                        <a:rPr sz="2100" b="0">
                          <a:solidFill>
                            <a:srgbClr val="192C24"/>
                          </a:solidFill>
                          <a:latin typeface="Arial"/>
                          <a:ea typeface="Arial"/>
                          <a:cs typeface="Arial"/>
                        </a:rPr>
                        <a:t>/alerts</a:t>
                      </a:r>
                    </a:p>
                  </a:txBody>
                  <a:tcPr anchor="ctr">
                    <a:solidFill>
                      <a:srgbClr val="EDF3EE"/>
                    </a:solidFill>
                  </a:tcPr>
                </a:tc>
                <a:tc>
                  <a:txBody>
                    <a:bodyPr/>
                    <a:lstStyle/>
                    <a:p>
                      <a:r>
                        <a:rPr sz="2100" b="0">
                          <a:solidFill>
                            <a:srgbClr val="192C24"/>
                          </a:solidFill>
                          <a:latin typeface="Arial"/>
                          <a:ea typeface="Arial"/>
                          <a:cs typeface="Arial"/>
                        </a:rPr>
                        <a:t>Service alerts for the selected route</a:t>
                      </a:r>
                    </a:p>
                  </a:txBody>
                  <a:tcPr anchor="ctr">
                    <a:solidFill>
                      <a:srgbClr val="EDF3EE"/>
                    </a:solidFill>
                  </a:tcPr>
                </a:tc>
                <a:extLst>
                  <a:ext uri="{0D108BD9-81ED-4DB2-BD59-A6C34878D82A}">
                    <a16:rowId xmlns:a16="http://schemas.microsoft.com/office/drawing/2014/main" val="10004"/>
                  </a:ext>
                </a:extLst>
              </a:tr>
            </a:tbl>
          </a:graphicData>
        </a:graphic>
      </p:graphicFrame>
      <p:sp>
        <p:nvSpPr>
          <p:cNvPr id="4" name="The app will display MBTA estimates and show when ">
            <a:extLst>
              <a:ext uri="{FF2B5EF4-FFF2-40B4-BE49-F238E27FC236}">
                <a16:creationId xmlns:a16="http://schemas.microsoft.com/office/drawing/2014/main" id="{B5692262-0E2F-4F61-BE25-B1FCC65AF021}"/>
              </a:ext>
            </a:extLst>
          </p:cNvPr>
          <p:cNvSpPr>
            <a:spLocks noGrp="1"/>
          </p:cNvSpPr>
          <p:nvPr/>
        </p:nvSpPr>
        <p:spPr>
          <a:xfrm>
            <a:off x="609600" y="5467350"/>
            <a:ext cx="10972800" cy="685800"/>
          </a:xfrm>
          <a:prstGeom prst="rect">
            <a:avLst/>
          </a:prstGeom>
          <a:noFill/>
          <a:ln w="0">
            <a:noFill/>
          </a:ln>
        </p:spPr>
        <p:txBody>
          <a:bodyPr wrap="square" lIns="0" tIns="0" rIns="0" bIns="0" anchor="t">
            <a:noAutofit/>
          </a:bodyPr>
          <a:lstStyle/>
          <a:p>
            <a:pPr algn="l">
              <a:defRPr sz="2025" b="0">
                <a:solidFill>
                  <a:srgbClr val="192C24"/>
                </a:solidFill>
                <a:latin typeface="Arial"/>
                <a:ea typeface="Arial"/>
                <a:cs typeface="Arial"/>
              </a:defRPr>
            </a:pPr>
            <a:r>
              <a:rPr sz="2025" b="0">
                <a:solidFill>
                  <a:srgbClr val="192C24"/>
                </a:solidFill>
                <a:latin typeface="Arial"/>
                <a:ea typeface="Arial"/>
                <a:cs typeface="Arial"/>
              </a:rPr>
              <a:t>The app will display MBTA estimates and show when it last fetched them.</a:t>
            </a:r>
          </a:p>
        </p:txBody>
      </p:sp>
      <p:sp>
        <p:nvSpPr>
          <p:cNvPr id="5" name="MBTA API documentation">
            <a:extLst>
              <a:ext uri="{FF2B5EF4-FFF2-40B4-BE49-F238E27FC236}">
                <a16:creationId xmlns:a16="http://schemas.microsoft.com/office/drawing/2014/main" id="{A2CA9976-0E6A-4904-A050-21C21C0BC85A}"/>
              </a:ext>
            </a:extLst>
          </p:cNvPr>
          <p:cNvSpPr>
            <a:spLocks noGrp="1"/>
          </p:cNvSpPr>
          <p:nvPr/>
        </p:nvSpPr>
        <p:spPr>
          <a:xfrm>
            <a:off x="609600" y="6343650"/>
            <a:ext cx="8001000" cy="266700"/>
          </a:xfrm>
          <a:prstGeom prst="rect">
            <a:avLst/>
          </a:prstGeom>
          <a:noFill/>
          <a:ln w="0">
            <a:noFill/>
          </a:ln>
        </p:spPr>
        <p:txBody>
          <a:bodyPr wrap="square" lIns="0" tIns="0" rIns="0" bIns="0" anchor="t">
            <a:noAutofit/>
          </a:bodyPr>
          <a:lstStyle/>
          <a:p>
            <a:pPr algn="l">
              <a:defRPr sz="1500" b="0">
                <a:solidFill>
                  <a:srgbClr val="176441"/>
                </a:solidFill>
                <a:latin typeface="Arial"/>
                <a:ea typeface="Arial"/>
                <a:cs typeface="Arial"/>
              </a:defRPr>
            </a:pPr>
            <a:r>
              <a:rPr sz="1500" b="0">
                <a:solidFill>
                  <a:srgbClr val="176441"/>
                </a:solidFill>
                <a:latin typeface="Arial"/>
                <a:ea typeface="Arial"/>
                <a:cs typeface="Arial"/>
                <a:hlinkClick r:id="rId3"/>
              </a:rPr>
              <a:t>MBTA API documentation</a:t>
            </a:r>
          </a:p>
        </p:txBody>
      </p:sp>
    </p:spTree>
    <p:extLst>
      <p:ext uri="{BB962C8B-B14F-4D97-AF65-F5344CB8AC3E}">
        <p14:creationId xmlns:p14="http://schemas.microsoft.com/office/powerpoint/2010/main" val="1508604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roposed tech stack">
            <a:extLst>
              <a:ext uri="{FF2B5EF4-FFF2-40B4-BE49-F238E27FC236}">
                <a16:creationId xmlns:a16="http://schemas.microsoft.com/office/drawing/2014/main" id="{F4F6B876-004D-4E60-BE03-61536AB34980}"/>
              </a:ext>
            </a:extLst>
          </p:cNvPr>
          <p:cNvSpPr>
            <a:spLocks noGrp="1"/>
          </p:cNvSpPr>
          <p:nvPr/>
        </p:nvSpPr>
        <p:spPr>
          <a:xfrm>
            <a:off x="609600" y="476250"/>
            <a:ext cx="10972800" cy="723900"/>
          </a:xfrm>
          <a:prstGeom prst="rect">
            <a:avLst/>
          </a:prstGeom>
          <a:noFill/>
          <a:ln w="0">
            <a:noFill/>
          </a:ln>
        </p:spPr>
        <p:txBody>
          <a:bodyPr wrap="square" lIns="0" tIns="0" rIns="0" bIns="0" anchor="t">
            <a:noAutofit/>
          </a:bodyPr>
          <a:lstStyle/>
          <a:p>
            <a:pPr algn="l">
              <a:defRPr sz="3450" b="1">
                <a:solidFill>
                  <a:srgbClr val="153F31"/>
                </a:solidFill>
                <a:latin typeface="Arial"/>
                <a:ea typeface="Arial"/>
                <a:cs typeface="Arial"/>
              </a:defRPr>
            </a:pPr>
            <a:r>
              <a:rPr sz="3450" b="1">
                <a:solidFill>
                  <a:srgbClr val="153F31"/>
                </a:solidFill>
                <a:latin typeface="Arial"/>
                <a:ea typeface="Arial"/>
                <a:cs typeface="Arial"/>
              </a:rPr>
              <a:t>Proposed tech stack</a:t>
            </a:r>
          </a:p>
        </p:txBody>
      </p:sp>
      <p:sp>
        <p:nvSpPr>
          <p:cNvPr id="2" name="A small web app with one backend">
            <a:extLst>
              <a:ext uri="{FF2B5EF4-FFF2-40B4-BE49-F238E27FC236}">
                <a16:creationId xmlns:a16="http://schemas.microsoft.com/office/drawing/2014/main" id="{F8208AF7-ACDB-47BE-B169-B1453BAD49A3}"/>
              </a:ext>
            </a:extLst>
          </p:cNvPr>
          <p:cNvSpPr>
            <a:spLocks noGrp="1"/>
          </p:cNvSpPr>
          <p:nvPr/>
        </p:nvSpPr>
        <p:spPr>
          <a:xfrm>
            <a:off x="609600" y="1247775"/>
            <a:ext cx="10972800" cy="428625"/>
          </a:xfrm>
          <a:prstGeom prst="rect">
            <a:avLst/>
          </a:prstGeom>
          <a:noFill/>
          <a:ln w="0">
            <a:noFill/>
          </a:ln>
        </p:spPr>
        <p:txBody>
          <a:bodyPr wrap="square" lIns="0" tIns="0" rIns="0" bIns="0" anchor="t">
            <a:noAutofit/>
          </a:bodyPr>
          <a:lstStyle/>
          <a:p>
            <a:pPr algn="l">
              <a:defRPr sz="1875" b="0">
                <a:solidFill>
                  <a:srgbClr val="54665C"/>
                </a:solidFill>
                <a:latin typeface="Arial"/>
                <a:ea typeface="Arial"/>
                <a:cs typeface="Arial"/>
              </a:defRPr>
            </a:pPr>
            <a:r>
              <a:rPr sz="1875" b="0">
                <a:solidFill>
                  <a:srgbClr val="54665C"/>
                </a:solidFill>
                <a:latin typeface="Arial"/>
                <a:ea typeface="Arial"/>
                <a:cs typeface="Arial"/>
              </a:rPr>
              <a:t>A small web app with one backend</a:t>
            </a:r>
          </a:p>
        </p:txBody>
      </p:sp>
      <p:graphicFrame>
        <p:nvGraphicFramePr>
          <p:cNvPr id="7" name="Table 6"/>
          <p:cNvGraphicFramePr/>
          <p:nvPr>
            <p:extLst>
              <p:ext uri="{D42A27DB-BD31-4B8C-83A1-F6EECF244321}">
                <p14:modId xmlns:p14="http://schemas.microsoft.com/office/powerpoint/2010/main" val="3744421419"/>
              </p:ext>
            </p:extLst>
          </p:nvPr>
        </p:nvGraphicFramePr>
        <p:xfrm>
          <a:off x="609600" y="1952625"/>
          <a:ext cx="10972800" cy="3333750"/>
        </p:xfrm>
        <a:graphic>
          <a:graphicData uri="http://schemas.openxmlformats.org/drawingml/2006/table">
            <a:tbl>
              <a:tblPr firstRow="1"/>
              <a:tblGrid>
                <a:gridCol w="21717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666750">
                <a:tc>
                  <a:txBody>
                    <a:bodyPr/>
                    <a:lstStyle/>
                    <a:p>
                      <a:r>
                        <a:rPr sz="1950" b="1">
                          <a:solidFill>
                            <a:srgbClr val="FFFFFF"/>
                          </a:solidFill>
                          <a:latin typeface="Arial"/>
                          <a:ea typeface="Arial"/>
                          <a:cs typeface="Arial"/>
                        </a:rPr>
                        <a:t>Part</a:t>
                      </a:r>
                    </a:p>
                  </a:txBody>
                  <a:tcPr anchor="ctr">
                    <a:solidFill>
                      <a:srgbClr val="153F31"/>
                    </a:solidFill>
                  </a:tcPr>
                </a:tc>
                <a:tc>
                  <a:txBody>
                    <a:bodyPr/>
                    <a:lstStyle/>
                    <a:p>
                      <a:r>
                        <a:rPr sz="1950" b="1">
                          <a:solidFill>
                            <a:srgbClr val="FFFFFF"/>
                          </a:solidFill>
                          <a:latin typeface="Arial"/>
                          <a:ea typeface="Arial"/>
                          <a:cs typeface="Arial"/>
                        </a:rPr>
                        <a:t>Proposed choice</a:t>
                      </a:r>
                    </a:p>
                  </a:txBody>
                  <a:tcPr anchor="ctr">
                    <a:solidFill>
                      <a:srgbClr val="153F31"/>
                    </a:solidFill>
                  </a:tcPr>
                </a:tc>
                <a:tc>
                  <a:txBody>
                    <a:bodyPr/>
                    <a:lstStyle/>
                    <a:p>
                      <a:r>
                        <a:rPr sz="1950" b="1">
                          <a:solidFill>
                            <a:srgbClr val="FFFFFF"/>
                          </a:solidFill>
                          <a:latin typeface="Arial"/>
                          <a:ea typeface="Arial"/>
                          <a:cs typeface="Arial"/>
                        </a:rPr>
                        <a:t>Purpose</a:t>
                      </a:r>
                    </a:p>
                  </a:txBody>
                  <a:tcPr anchor="ctr">
                    <a:solidFill>
                      <a:srgbClr val="153F31"/>
                    </a:solidFill>
                  </a:tcPr>
                </a:tc>
                <a:extLst>
                  <a:ext uri="{0D108BD9-81ED-4DB2-BD59-A6C34878D82A}">
                    <a16:rowId xmlns:a16="http://schemas.microsoft.com/office/drawing/2014/main" val="10000"/>
                  </a:ext>
                </a:extLst>
              </a:tr>
              <a:tr h="666750">
                <a:tc>
                  <a:txBody>
                    <a:bodyPr/>
                    <a:lstStyle/>
                    <a:p>
                      <a:r>
                        <a:rPr sz="1950" b="0">
                          <a:solidFill>
                            <a:srgbClr val="192C24"/>
                          </a:solidFill>
                          <a:latin typeface="Arial"/>
                          <a:ea typeface="Arial"/>
                          <a:cs typeface="Arial"/>
                        </a:rPr>
                        <a:t>Frontend</a:t>
                      </a:r>
                    </a:p>
                  </a:txBody>
                  <a:tcPr anchor="ctr">
                    <a:solidFill>
                      <a:srgbClr val="FFFFFF"/>
                    </a:solidFill>
                  </a:tcPr>
                </a:tc>
                <a:tc>
                  <a:txBody>
                    <a:bodyPr/>
                    <a:lstStyle/>
                    <a:p>
                      <a:r>
                        <a:rPr sz="1950" b="0">
                          <a:solidFill>
                            <a:srgbClr val="192C24"/>
                          </a:solidFill>
                          <a:latin typeface="Arial"/>
                          <a:ea typeface="Arial"/>
                          <a:cs typeface="Arial"/>
                        </a:rPr>
                        <a:t>HTML, CSS, JavaScript</a:t>
                      </a:r>
                    </a:p>
                  </a:txBody>
                  <a:tcPr anchor="ctr">
                    <a:solidFill>
                      <a:srgbClr val="FFFFFF"/>
                    </a:solidFill>
                  </a:tcPr>
                </a:tc>
                <a:tc>
                  <a:txBody>
                    <a:bodyPr/>
                    <a:lstStyle/>
                    <a:p>
                      <a:r>
                        <a:rPr sz="1950" b="0">
                          <a:solidFill>
                            <a:srgbClr val="192C24"/>
                          </a:solidFill>
                          <a:latin typeface="Arial"/>
                          <a:ea typeface="Arial"/>
                          <a:cs typeface="Arial"/>
                        </a:rPr>
                        <a:t>Selection controls and results</a:t>
                      </a:r>
                    </a:p>
                  </a:txBody>
                  <a:tcPr anchor="ctr">
                    <a:solidFill>
                      <a:srgbClr val="FFFFFF"/>
                    </a:solidFill>
                  </a:tcPr>
                </a:tc>
                <a:extLst>
                  <a:ext uri="{0D108BD9-81ED-4DB2-BD59-A6C34878D82A}">
                    <a16:rowId xmlns:a16="http://schemas.microsoft.com/office/drawing/2014/main" val="10001"/>
                  </a:ext>
                </a:extLst>
              </a:tr>
              <a:tr h="666750">
                <a:tc>
                  <a:txBody>
                    <a:bodyPr/>
                    <a:lstStyle/>
                    <a:p>
                      <a:r>
                        <a:rPr sz="1950" b="0">
                          <a:solidFill>
                            <a:srgbClr val="192C24"/>
                          </a:solidFill>
                          <a:latin typeface="Arial"/>
                          <a:ea typeface="Arial"/>
                          <a:cs typeface="Arial"/>
                        </a:rPr>
                        <a:t>Backend</a:t>
                      </a:r>
                    </a:p>
                  </a:txBody>
                  <a:tcPr anchor="ctr">
                    <a:solidFill>
                      <a:srgbClr val="EDF3EE"/>
                    </a:solidFill>
                  </a:tcPr>
                </a:tc>
                <a:tc>
                  <a:txBody>
                    <a:bodyPr/>
                    <a:lstStyle/>
                    <a:p>
                      <a:r>
                        <a:rPr lang="en-US" sz="1950" b="0" dirty="0">
                          <a:solidFill>
                            <a:srgbClr val="192C24"/>
                          </a:solidFill>
                          <a:latin typeface="Arial"/>
                          <a:ea typeface="Arial"/>
                          <a:cs typeface="Arial"/>
                        </a:rPr>
                        <a:t>NodeJS, </a:t>
                      </a:r>
                      <a:r>
                        <a:rPr sz="1950" b="0" dirty="0">
                          <a:solidFill>
                            <a:srgbClr val="192C24"/>
                          </a:solidFill>
                          <a:latin typeface="Arial"/>
                          <a:ea typeface="Arial"/>
                          <a:cs typeface="Arial"/>
                        </a:rPr>
                        <a:t>Python with Flask</a:t>
                      </a:r>
                    </a:p>
                  </a:txBody>
                  <a:tcPr anchor="ctr">
                    <a:solidFill>
                      <a:srgbClr val="EDF3EE"/>
                    </a:solidFill>
                  </a:tcPr>
                </a:tc>
                <a:tc>
                  <a:txBody>
                    <a:bodyPr/>
                    <a:lstStyle/>
                    <a:p>
                      <a:r>
                        <a:rPr sz="1950" b="0">
                          <a:solidFill>
                            <a:srgbClr val="192C24"/>
                          </a:solidFill>
                          <a:latin typeface="Arial"/>
                          <a:ea typeface="Arial"/>
                          <a:cs typeface="Arial"/>
                        </a:rPr>
                        <a:t>Request and organize MBTA data</a:t>
                      </a:r>
                    </a:p>
                  </a:txBody>
                  <a:tcPr anchor="ctr">
                    <a:solidFill>
                      <a:srgbClr val="EDF3EE"/>
                    </a:solidFill>
                  </a:tcPr>
                </a:tc>
                <a:extLst>
                  <a:ext uri="{0D108BD9-81ED-4DB2-BD59-A6C34878D82A}">
                    <a16:rowId xmlns:a16="http://schemas.microsoft.com/office/drawing/2014/main" val="10002"/>
                  </a:ext>
                </a:extLst>
              </a:tr>
              <a:tr h="666750">
                <a:tc>
                  <a:txBody>
                    <a:bodyPr/>
                    <a:lstStyle/>
                    <a:p>
                      <a:r>
                        <a:rPr sz="1950" b="0">
                          <a:solidFill>
                            <a:srgbClr val="192C24"/>
                          </a:solidFill>
                          <a:latin typeface="Arial"/>
                          <a:ea typeface="Arial"/>
                          <a:cs typeface="Arial"/>
                        </a:rPr>
                        <a:t>Saved stops</a:t>
                      </a:r>
                    </a:p>
                  </a:txBody>
                  <a:tcPr anchor="ctr">
                    <a:solidFill>
                      <a:srgbClr val="FFFFFF"/>
                    </a:solidFill>
                  </a:tcPr>
                </a:tc>
                <a:tc>
                  <a:txBody>
                    <a:bodyPr/>
                    <a:lstStyle/>
                    <a:p>
                      <a:r>
                        <a:rPr sz="1950" b="0" dirty="0">
                          <a:solidFill>
                            <a:srgbClr val="192C24"/>
                          </a:solidFill>
                          <a:latin typeface="Arial"/>
                          <a:ea typeface="Arial"/>
                          <a:cs typeface="Arial"/>
                        </a:rPr>
                        <a:t>Browser </a:t>
                      </a:r>
                      <a:r>
                        <a:rPr sz="1950" b="0" dirty="0" err="1">
                          <a:solidFill>
                            <a:srgbClr val="192C24"/>
                          </a:solidFill>
                          <a:latin typeface="Arial"/>
                          <a:ea typeface="Arial"/>
                          <a:cs typeface="Arial"/>
                        </a:rPr>
                        <a:t>localStorage</a:t>
                      </a:r>
                      <a:endParaRPr sz="1950" b="0" dirty="0">
                        <a:solidFill>
                          <a:srgbClr val="192C24"/>
                        </a:solidFill>
                        <a:latin typeface="Arial"/>
                        <a:ea typeface="Arial"/>
                        <a:cs typeface="Arial"/>
                      </a:endParaRPr>
                    </a:p>
                  </a:txBody>
                  <a:tcPr anchor="ctr">
                    <a:solidFill>
                      <a:srgbClr val="FFFFFF"/>
                    </a:solidFill>
                  </a:tcPr>
                </a:tc>
                <a:tc>
                  <a:txBody>
                    <a:bodyPr/>
                    <a:lstStyle/>
                    <a:p>
                      <a:r>
                        <a:rPr sz="1950" b="0">
                          <a:solidFill>
                            <a:srgbClr val="192C24"/>
                          </a:solidFill>
                          <a:latin typeface="Arial"/>
                          <a:ea typeface="Arial"/>
                          <a:cs typeface="Arial"/>
                        </a:rPr>
                        <a:t>Keep favorites on this device</a:t>
                      </a:r>
                    </a:p>
                  </a:txBody>
                  <a:tcPr anchor="ctr">
                    <a:solidFill>
                      <a:srgbClr val="FFFFFF"/>
                    </a:solidFill>
                  </a:tcPr>
                </a:tc>
                <a:extLst>
                  <a:ext uri="{0D108BD9-81ED-4DB2-BD59-A6C34878D82A}">
                    <a16:rowId xmlns:a16="http://schemas.microsoft.com/office/drawing/2014/main" val="10003"/>
                  </a:ext>
                </a:extLst>
              </a:tr>
              <a:tr h="666750">
                <a:tc>
                  <a:txBody>
                    <a:bodyPr/>
                    <a:lstStyle/>
                    <a:p>
                      <a:r>
                        <a:rPr sz="1950" b="0">
                          <a:solidFill>
                            <a:srgbClr val="192C24"/>
                          </a:solidFill>
                          <a:latin typeface="Arial"/>
                          <a:ea typeface="Arial"/>
                          <a:cs typeface="Arial"/>
                        </a:rPr>
                        <a:t>Team workflow</a:t>
                      </a:r>
                    </a:p>
                  </a:txBody>
                  <a:tcPr anchor="ctr">
                    <a:solidFill>
                      <a:srgbClr val="EDF3EE"/>
                    </a:solidFill>
                  </a:tcPr>
                </a:tc>
                <a:tc>
                  <a:txBody>
                    <a:bodyPr/>
                    <a:lstStyle/>
                    <a:p>
                      <a:r>
                        <a:rPr sz="1950" b="0">
                          <a:solidFill>
                            <a:srgbClr val="192C24"/>
                          </a:solidFill>
                          <a:latin typeface="Arial"/>
                          <a:ea typeface="Arial"/>
                          <a:cs typeface="Arial"/>
                        </a:rPr>
                        <a:t>Git and GitHub</a:t>
                      </a:r>
                    </a:p>
                  </a:txBody>
                  <a:tcPr anchor="ctr">
                    <a:solidFill>
                      <a:srgbClr val="EDF3EE"/>
                    </a:solidFill>
                  </a:tcPr>
                </a:tc>
                <a:tc>
                  <a:txBody>
                    <a:bodyPr/>
                    <a:lstStyle/>
                    <a:p>
                      <a:r>
                        <a:rPr sz="1950" b="0" dirty="0">
                          <a:solidFill>
                            <a:srgbClr val="192C24"/>
                          </a:solidFill>
                          <a:latin typeface="Arial"/>
                          <a:ea typeface="Arial"/>
                          <a:cs typeface="Arial"/>
                        </a:rPr>
                        <a:t>Track changes and shared tasks</a:t>
                      </a:r>
                    </a:p>
                  </a:txBody>
                  <a:tcPr anchor="ctr">
                    <a:solidFill>
                      <a:srgbClr val="EDF3EE"/>
                    </a:solidFill>
                  </a:tcPr>
                </a:tc>
                <a:extLst>
                  <a:ext uri="{0D108BD9-81ED-4DB2-BD59-A6C34878D82A}">
                    <a16:rowId xmlns:a16="http://schemas.microsoft.com/office/drawing/2014/main" val="10004"/>
                  </a:ext>
                </a:extLst>
              </a:tr>
            </a:tbl>
          </a:graphicData>
        </a:graphic>
      </p:graphicFrame>
      <p:sp>
        <p:nvSpPr>
          <p:cNvPr id="4" name="The browser asks Flask for transit data. Flask cal">
            <a:extLst>
              <a:ext uri="{FF2B5EF4-FFF2-40B4-BE49-F238E27FC236}">
                <a16:creationId xmlns:a16="http://schemas.microsoft.com/office/drawing/2014/main" id="{16A4BC5A-9155-4D3F-8535-63417E6AF2D8}"/>
              </a:ext>
            </a:extLst>
          </p:cNvPr>
          <p:cNvSpPr>
            <a:spLocks noGrp="1"/>
          </p:cNvSpPr>
          <p:nvPr/>
        </p:nvSpPr>
        <p:spPr>
          <a:xfrm>
            <a:off x="609600" y="5695950"/>
            <a:ext cx="10972800" cy="723900"/>
          </a:xfrm>
          <a:prstGeom prst="rect">
            <a:avLst/>
          </a:prstGeom>
          <a:noFill/>
          <a:ln w="0">
            <a:noFill/>
          </a:ln>
        </p:spPr>
        <p:txBody>
          <a:bodyPr wrap="square" lIns="0" tIns="0" rIns="0" bIns="0" anchor="t">
            <a:noAutofit/>
          </a:bodyPr>
          <a:lstStyle/>
          <a:p>
            <a:pPr algn="l">
              <a:defRPr sz="2025" b="0">
                <a:solidFill>
                  <a:srgbClr val="192C24"/>
                </a:solidFill>
                <a:latin typeface="Arial"/>
                <a:ea typeface="Arial"/>
                <a:cs typeface="Arial"/>
              </a:defRPr>
            </a:pPr>
            <a:r>
              <a:rPr sz="2025" b="0">
                <a:solidFill>
                  <a:srgbClr val="192C24"/>
                </a:solidFill>
                <a:latin typeface="Arial"/>
                <a:ea typeface="Arial"/>
                <a:cs typeface="Arial"/>
              </a:rPr>
              <a:t>The browser asks Flask for transit data. Flask calls the MBTA API.</a:t>
            </a:r>
          </a:p>
        </p:txBody>
      </p:sp>
    </p:spTree>
    <p:extLst>
      <p:ext uri="{BB962C8B-B14F-4D97-AF65-F5344CB8AC3E}">
        <p14:creationId xmlns:p14="http://schemas.microsoft.com/office/powerpoint/2010/main" val="441254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quirements and checks">
            <a:extLst>
              <a:ext uri="{FF2B5EF4-FFF2-40B4-BE49-F238E27FC236}">
                <a16:creationId xmlns:a16="http://schemas.microsoft.com/office/drawing/2014/main" id="{04981D7B-3F73-4805-AE6C-1FCEDCCD1515}"/>
              </a:ext>
            </a:extLst>
          </p:cNvPr>
          <p:cNvSpPr>
            <a:spLocks noGrp="1"/>
          </p:cNvSpPr>
          <p:nvPr/>
        </p:nvSpPr>
        <p:spPr>
          <a:xfrm>
            <a:off x="609600" y="476250"/>
            <a:ext cx="10972800" cy="723900"/>
          </a:xfrm>
          <a:prstGeom prst="rect">
            <a:avLst/>
          </a:prstGeom>
          <a:noFill/>
          <a:ln w="0">
            <a:noFill/>
          </a:ln>
        </p:spPr>
        <p:txBody>
          <a:bodyPr wrap="square" lIns="0" tIns="0" rIns="0" bIns="0" anchor="t">
            <a:noAutofit/>
          </a:bodyPr>
          <a:lstStyle/>
          <a:p>
            <a:pPr algn="l">
              <a:defRPr sz="3450" b="1">
                <a:solidFill>
                  <a:srgbClr val="153F31"/>
                </a:solidFill>
                <a:latin typeface="Arial"/>
                <a:ea typeface="Arial"/>
                <a:cs typeface="Arial"/>
              </a:defRPr>
            </a:pPr>
            <a:r>
              <a:rPr sz="3450" b="1">
                <a:solidFill>
                  <a:srgbClr val="153F31"/>
                </a:solidFill>
                <a:latin typeface="Arial"/>
                <a:ea typeface="Arial"/>
                <a:cs typeface="Arial"/>
              </a:rPr>
              <a:t>Requirements and checks</a:t>
            </a:r>
          </a:p>
        </p:txBody>
      </p:sp>
      <p:graphicFrame>
        <p:nvGraphicFramePr>
          <p:cNvPr id="5" name="Table 4"/>
          <p:cNvGraphicFramePr/>
          <p:nvPr/>
        </p:nvGraphicFramePr>
        <p:xfrm>
          <a:off x="609600" y="1666875"/>
          <a:ext cx="10972800" cy="4171950"/>
        </p:xfrm>
        <a:graphic>
          <a:graphicData uri="http://schemas.openxmlformats.org/drawingml/2006/table">
            <a:tbl>
              <a:tblPr firstRow="1"/>
              <a:tblGrid>
                <a:gridCol w="3333750">
                  <a:extLst>
                    <a:ext uri="{9D8B030D-6E8A-4147-A177-3AD203B41FA5}">
                      <a16:colId xmlns:a16="http://schemas.microsoft.com/office/drawing/2014/main" val="20000"/>
                    </a:ext>
                  </a:extLst>
                </a:gridCol>
                <a:gridCol w="7639050">
                  <a:extLst>
                    <a:ext uri="{9D8B030D-6E8A-4147-A177-3AD203B41FA5}">
                      <a16:colId xmlns:a16="http://schemas.microsoft.com/office/drawing/2014/main" val="20001"/>
                    </a:ext>
                  </a:extLst>
                </a:gridCol>
              </a:tblGrid>
              <a:tr h="695325">
                <a:tc>
                  <a:txBody>
                    <a:bodyPr/>
                    <a:lstStyle/>
                    <a:p>
                      <a:r>
                        <a:rPr sz="1950" b="1">
                          <a:solidFill>
                            <a:srgbClr val="FFFFFF"/>
                          </a:solidFill>
                          <a:latin typeface="Arial"/>
                          <a:ea typeface="Arial"/>
                          <a:cs typeface="Arial"/>
                        </a:rPr>
                        <a:t>Requirement</a:t>
                      </a:r>
                    </a:p>
                  </a:txBody>
                  <a:tcPr anchor="ctr">
                    <a:solidFill>
                      <a:srgbClr val="153F31"/>
                    </a:solidFill>
                  </a:tcPr>
                </a:tc>
                <a:tc>
                  <a:txBody>
                    <a:bodyPr/>
                    <a:lstStyle/>
                    <a:p>
                      <a:r>
                        <a:rPr sz="1950" b="1">
                          <a:solidFill>
                            <a:srgbClr val="FFFFFF"/>
                          </a:solidFill>
                          <a:latin typeface="Arial"/>
                          <a:ea typeface="Arial"/>
                          <a:cs typeface="Arial"/>
                        </a:rPr>
                        <a:t>What a passing check looks like</a:t>
                      </a:r>
                    </a:p>
                  </a:txBody>
                  <a:tcPr anchor="ctr">
                    <a:solidFill>
                      <a:srgbClr val="153F31"/>
                    </a:solidFill>
                  </a:tcPr>
                </a:tc>
                <a:extLst>
                  <a:ext uri="{0D108BD9-81ED-4DB2-BD59-A6C34878D82A}">
                    <a16:rowId xmlns:a16="http://schemas.microsoft.com/office/drawing/2014/main" val="10000"/>
                  </a:ext>
                </a:extLst>
              </a:tr>
              <a:tr h="695325">
                <a:tc>
                  <a:txBody>
                    <a:bodyPr/>
                    <a:lstStyle/>
                    <a:p>
                      <a:r>
                        <a:rPr sz="1950" b="0">
                          <a:solidFill>
                            <a:srgbClr val="192C24"/>
                          </a:solidFill>
                          <a:latin typeface="Arial"/>
                          <a:ea typeface="Arial"/>
                          <a:cs typeface="Arial"/>
                        </a:rPr>
                        <a:t>Correct selection</a:t>
                      </a:r>
                    </a:p>
                  </a:txBody>
                  <a:tcPr anchor="ctr">
                    <a:solidFill>
                      <a:srgbClr val="FFFFFF"/>
                    </a:solidFill>
                  </a:tcPr>
                </a:tc>
                <a:tc>
                  <a:txBody>
                    <a:bodyPr/>
                    <a:lstStyle/>
                    <a:p>
                      <a:r>
                        <a:rPr sz="1950" b="0">
                          <a:solidFill>
                            <a:srgbClr val="192C24"/>
                          </a:solidFill>
                          <a:latin typeface="Arial"/>
                          <a:ea typeface="Arial"/>
                          <a:cs typeface="Arial"/>
                        </a:rPr>
                        <a:t>Predictions match the chosen stop and direction.</a:t>
                      </a:r>
                    </a:p>
                  </a:txBody>
                  <a:tcPr anchor="ctr">
                    <a:solidFill>
                      <a:srgbClr val="FFFFFF"/>
                    </a:solidFill>
                  </a:tcPr>
                </a:tc>
                <a:extLst>
                  <a:ext uri="{0D108BD9-81ED-4DB2-BD59-A6C34878D82A}">
                    <a16:rowId xmlns:a16="http://schemas.microsoft.com/office/drawing/2014/main" val="10001"/>
                  </a:ext>
                </a:extLst>
              </a:tr>
              <a:tr h="695325">
                <a:tc>
                  <a:txBody>
                    <a:bodyPr/>
                    <a:lstStyle/>
                    <a:p>
                      <a:r>
                        <a:rPr sz="1950" b="0">
                          <a:solidFill>
                            <a:srgbClr val="192C24"/>
                          </a:solidFill>
                          <a:latin typeface="Arial"/>
                          <a:ea typeface="Arial"/>
                          <a:cs typeface="Arial"/>
                        </a:rPr>
                        <a:t>Readable arrivals</a:t>
                      </a:r>
                    </a:p>
                  </a:txBody>
                  <a:tcPr anchor="ctr">
                    <a:solidFill>
                      <a:srgbClr val="EDF3EE"/>
                    </a:solidFill>
                  </a:tcPr>
                </a:tc>
                <a:tc>
                  <a:txBody>
                    <a:bodyPr/>
                    <a:lstStyle/>
                    <a:p>
                      <a:r>
                        <a:rPr sz="1950" b="0">
                          <a:solidFill>
                            <a:srgbClr val="192C24"/>
                          </a:solidFill>
                          <a:latin typeface="Arial"/>
                          <a:ea typeface="Arial"/>
                          <a:cs typeface="Arial"/>
                        </a:rPr>
                        <a:t>Up to 3 available predictions appear in time order.</a:t>
                      </a:r>
                    </a:p>
                  </a:txBody>
                  <a:tcPr anchor="ctr">
                    <a:solidFill>
                      <a:srgbClr val="EDF3EE"/>
                    </a:solidFill>
                  </a:tcPr>
                </a:tc>
                <a:extLst>
                  <a:ext uri="{0D108BD9-81ED-4DB2-BD59-A6C34878D82A}">
                    <a16:rowId xmlns:a16="http://schemas.microsoft.com/office/drawing/2014/main" val="10002"/>
                  </a:ext>
                </a:extLst>
              </a:tr>
              <a:tr h="695325">
                <a:tc>
                  <a:txBody>
                    <a:bodyPr/>
                    <a:lstStyle/>
                    <a:p>
                      <a:r>
                        <a:rPr sz="1950" b="0">
                          <a:solidFill>
                            <a:srgbClr val="192C24"/>
                          </a:solidFill>
                          <a:latin typeface="Arial"/>
                          <a:ea typeface="Arial"/>
                          <a:cs typeface="Arial"/>
                        </a:rPr>
                        <a:t>Useful alerts</a:t>
                      </a:r>
                    </a:p>
                  </a:txBody>
                  <a:tcPr anchor="ctr">
                    <a:solidFill>
                      <a:srgbClr val="FFFFFF"/>
                    </a:solidFill>
                  </a:tcPr>
                </a:tc>
                <a:tc>
                  <a:txBody>
                    <a:bodyPr/>
                    <a:lstStyle/>
                    <a:p>
                      <a:r>
                        <a:rPr sz="1950" b="0">
                          <a:solidFill>
                            <a:srgbClr val="192C24"/>
                          </a:solidFill>
                          <a:latin typeface="Arial"/>
                          <a:ea typeface="Arial"/>
                          <a:cs typeface="Arial"/>
                        </a:rPr>
                        <a:t>Show relevant alerts or a clear no-alerts message.</a:t>
                      </a:r>
                    </a:p>
                  </a:txBody>
                  <a:tcPr anchor="ctr">
                    <a:solidFill>
                      <a:srgbClr val="FFFFFF"/>
                    </a:solidFill>
                  </a:tcPr>
                </a:tc>
                <a:extLst>
                  <a:ext uri="{0D108BD9-81ED-4DB2-BD59-A6C34878D82A}">
                    <a16:rowId xmlns:a16="http://schemas.microsoft.com/office/drawing/2014/main" val="10003"/>
                  </a:ext>
                </a:extLst>
              </a:tr>
              <a:tr h="695325">
                <a:tc>
                  <a:txBody>
                    <a:bodyPr/>
                    <a:lstStyle/>
                    <a:p>
                      <a:r>
                        <a:rPr sz="1950" b="0">
                          <a:solidFill>
                            <a:srgbClr val="192C24"/>
                          </a:solidFill>
                          <a:latin typeface="Arial"/>
                          <a:ea typeface="Arial"/>
                          <a:cs typeface="Arial"/>
                        </a:rPr>
                        <a:t>Saved stops</a:t>
                      </a:r>
                    </a:p>
                  </a:txBody>
                  <a:tcPr anchor="ctr">
                    <a:solidFill>
                      <a:srgbClr val="EDF3EE"/>
                    </a:solidFill>
                  </a:tcPr>
                </a:tc>
                <a:tc>
                  <a:txBody>
                    <a:bodyPr/>
                    <a:lstStyle/>
                    <a:p>
                      <a:r>
                        <a:rPr sz="1950" b="0">
                          <a:solidFill>
                            <a:srgbClr val="192C24"/>
                          </a:solidFill>
                          <a:latin typeface="Arial"/>
                          <a:ea typeface="Arial"/>
                          <a:cs typeface="Arial"/>
                        </a:rPr>
                        <a:t>Favorites remain after a refresh in the same browser.</a:t>
                      </a:r>
                    </a:p>
                  </a:txBody>
                  <a:tcPr anchor="ctr">
                    <a:solidFill>
                      <a:srgbClr val="EDF3EE"/>
                    </a:solidFill>
                  </a:tcPr>
                </a:tc>
                <a:extLst>
                  <a:ext uri="{0D108BD9-81ED-4DB2-BD59-A6C34878D82A}">
                    <a16:rowId xmlns:a16="http://schemas.microsoft.com/office/drawing/2014/main" val="10004"/>
                  </a:ext>
                </a:extLst>
              </a:tr>
              <a:tr h="695325">
                <a:tc>
                  <a:txBody>
                    <a:bodyPr/>
                    <a:lstStyle/>
                    <a:p>
                      <a:r>
                        <a:rPr sz="1950" b="0">
                          <a:solidFill>
                            <a:srgbClr val="192C24"/>
                          </a:solidFill>
                          <a:latin typeface="Arial"/>
                          <a:ea typeface="Arial"/>
                          <a:cs typeface="Arial"/>
                        </a:rPr>
                        <a:t>Clear update status</a:t>
                      </a:r>
                    </a:p>
                  </a:txBody>
                  <a:tcPr anchor="ctr">
                    <a:solidFill>
                      <a:srgbClr val="FFFFFF"/>
                    </a:solidFill>
                  </a:tcPr>
                </a:tc>
                <a:tc>
                  <a:txBody>
                    <a:bodyPr/>
                    <a:lstStyle/>
                    <a:p>
                      <a:r>
                        <a:rPr sz="1950" b="0">
                          <a:solidFill>
                            <a:srgbClr val="192C24"/>
                          </a:solidFill>
                          <a:latin typeface="Arial"/>
                          <a:ea typeface="Arial"/>
                          <a:cs typeface="Arial"/>
                        </a:rPr>
                        <a:t>Show the last update, empty results, and failures clearly.</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3" name="Test with sample API responses, then check the com">
            <a:extLst>
              <a:ext uri="{FF2B5EF4-FFF2-40B4-BE49-F238E27FC236}">
                <a16:creationId xmlns:a16="http://schemas.microsoft.com/office/drawing/2014/main" id="{2B8E2C89-1E43-414E-8D35-FF3D789198E1}"/>
              </a:ext>
            </a:extLst>
          </p:cNvPr>
          <p:cNvSpPr>
            <a:spLocks noGrp="1"/>
          </p:cNvSpPr>
          <p:nvPr/>
        </p:nvSpPr>
        <p:spPr>
          <a:xfrm>
            <a:off x="609600" y="6115050"/>
            <a:ext cx="10972800" cy="428625"/>
          </a:xfrm>
          <a:prstGeom prst="rect">
            <a:avLst/>
          </a:prstGeom>
          <a:noFill/>
          <a:ln w="0">
            <a:noFill/>
          </a:ln>
        </p:spPr>
        <p:txBody>
          <a:bodyPr wrap="square" lIns="0" tIns="0" rIns="0" bIns="0" anchor="t">
            <a:noAutofit/>
          </a:bodyPr>
          <a:lstStyle/>
          <a:p>
            <a:pPr algn="l">
              <a:defRPr sz="1875" b="0">
                <a:solidFill>
                  <a:srgbClr val="54665C"/>
                </a:solidFill>
                <a:latin typeface="Arial"/>
                <a:ea typeface="Arial"/>
                <a:cs typeface="Arial"/>
              </a:defRPr>
            </a:pPr>
            <a:r>
              <a:rPr sz="1875" b="0">
                <a:solidFill>
                  <a:srgbClr val="54665C"/>
                </a:solidFill>
                <a:latin typeface="Arial"/>
                <a:ea typeface="Arial"/>
                <a:cs typeface="Arial"/>
              </a:rPr>
              <a:t>Test with sample API responses, then check the complete flow with live data.</a:t>
            </a:r>
          </a:p>
        </p:txBody>
      </p:sp>
    </p:spTree>
    <p:extLst>
      <p:ext uri="{BB962C8B-B14F-4D97-AF65-F5344CB8AC3E}">
        <p14:creationId xmlns:p14="http://schemas.microsoft.com/office/powerpoint/2010/main" val="575652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Development plan">
            <a:extLst>
              <a:ext uri="{FF2B5EF4-FFF2-40B4-BE49-F238E27FC236}">
                <a16:creationId xmlns:a16="http://schemas.microsoft.com/office/drawing/2014/main" id="{63CBDE80-1E54-4521-BD49-71A406EAA613}"/>
              </a:ext>
            </a:extLst>
          </p:cNvPr>
          <p:cNvSpPr>
            <a:spLocks noGrp="1"/>
          </p:cNvSpPr>
          <p:nvPr/>
        </p:nvSpPr>
        <p:spPr>
          <a:xfrm>
            <a:off x="609600" y="476250"/>
            <a:ext cx="10972800" cy="723900"/>
          </a:xfrm>
          <a:prstGeom prst="rect">
            <a:avLst/>
          </a:prstGeom>
          <a:noFill/>
          <a:ln w="0">
            <a:noFill/>
          </a:ln>
        </p:spPr>
        <p:txBody>
          <a:bodyPr wrap="square" lIns="0" tIns="0" rIns="0" bIns="0" anchor="t">
            <a:noAutofit/>
          </a:bodyPr>
          <a:lstStyle/>
          <a:p>
            <a:pPr algn="l">
              <a:defRPr sz="3450" b="1">
                <a:solidFill>
                  <a:srgbClr val="153F31"/>
                </a:solidFill>
                <a:latin typeface="Arial"/>
                <a:ea typeface="Arial"/>
                <a:cs typeface="Arial"/>
              </a:defRPr>
            </a:pPr>
            <a:r>
              <a:rPr sz="3450" b="1">
                <a:solidFill>
                  <a:srgbClr val="153F31"/>
                </a:solidFill>
                <a:latin typeface="Arial"/>
                <a:ea typeface="Arial"/>
                <a:cs typeface="Arial"/>
              </a:rPr>
              <a:t>Development plan</a:t>
            </a:r>
          </a:p>
        </p:txBody>
      </p:sp>
      <p:sp>
        <p:nvSpPr>
          <p:cNvPr id="2" name="Proposed milestones">
            <a:extLst>
              <a:ext uri="{FF2B5EF4-FFF2-40B4-BE49-F238E27FC236}">
                <a16:creationId xmlns:a16="http://schemas.microsoft.com/office/drawing/2014/main" id="{43912E01-421F-4B51-A47D-18E007D88F0C}"/>
              </a:ext>
            </a:extLst>
          </p:cNvPr>
          <p:cNvSpPr>
            <a:spLocks noGrp="1"/>
          </p:cNvSpPr>
          <p:nvPr/>
        </p:nvSpPr>
        <p:spPr>
          <a:xfrm>
            <a:off x="609600" y="1247775"/>
            <a:ext cx="10972800" cy="428625"/>
          </a:xfrm>
          <a:prstGeom prst="rect">
            <a:avLst/>
          </a:prstGeom>
          <a:noFill/>
          <a:ln w="0">
            <a:noFill/>
          </a:ln>
        </p:spPr>
        <p:txBody>
          <a:bodyPr wrap="square" lIns="0" tIns="0" rIns="0" bIns="0" anchor="t">
            <a:noAutofit/>
          </a:bodyPr>
          <a:lstStyle/>
          <a:p>
            <a:pPr algn="l">
              <a:defRPr sz="1875" b="0">
                <a:solidFill>
                  <a:srgbClr val="54665C"/>
                </a:solidFill>
                <a:latin typeface="Arial"/>
                <a:ea typeface="Arial"/>
                <a:cs typeface="Arial"/>
              </a:defRPr>
            </a:pPr>
            <a:r>
              <a:rPr sz="1875" b="0">
                <a:solidFill>
                  <a:srgbClr val="54665C"/>
                </a:solidFill>
                <a:latin typeface="Arial"/>
                <a:ea typeface="Arial"/>
                <a:cs typeface="Arial"/>
              </a:rPr>
              <a:t>Proposed milestones</a:t>
            </a:r>
          </a:p>
        </p:txBody>
      </p:sp>
      <p:graphicFrame>
        <p:nvGraphicFramePr>
          <p:cNvPr id="7" name="Table 6"/>
          <p:cNvGraphicFramePr/>
          <p:nvPr/>
        </p:nvGraphicFramePr>
        <p:xfrm>
          <a:off x="609600" y="1952625"/>
          <a:ext cx="10972800" cy="3524250"/>
        </p:xfrm>
        <a:graphic>
          <a:graphicData uri="http://schemas.openxmlformats.org/drawingml/2006/table">
            <a:tbl>
              <a:tblPr firstRow="1"/>
              <a:tblGrid>
                <a:gridCol w="3048000">
                  <a:extLst>
                    <a:ext uri="{9D8B030D-6E8A-4147-A177-3AD203B41FA5}">
                      <a16:colId xmlns:a16="http://schemas.microsoft.com/office/drawing/2014/main" val="20000"/>
                    </a:ext>
                  </a:extLst>
                </a:gridCol>
                <a:gridCol w="7924800">
                  <a:extLst>
                    <a:ext uri="{9D8B030D-6E8A-4147-A177-3AD203B41FA5}">
                      <a16:colId xmlns:a16="http://schemas.microsoft.com/office/drawing/2014/main" val="20001"/>
                    </a:ext>
                  </a:extLst>
                </a:gridCol>
              </a:tblGrid>
              <a:tr h="704850">
                <a:tc>
                  <a:txBody>
                    <a:bodyPr/>
                    <a:lstStyle/>
                    <a:p>
                      <a:r>
                        <a:rPr sz="2025" b="1">
                          <a:solidFill>
                            <a:srgbClr val="FFFFFF"/>
                          </a:solidFill>
                          <a:latin typeface="Arial"/>
                          <a:ea typeface="Arial"/>
                          <a:cs typeface="Arial"/>
                        </a:rPr>
                        <a:t>Stage</a:t>
                      </a:r>
                    </a:p>
                  </a:txBody>
                  <a:tcPr anchor="ctr">
                    <a:solidFill>
                      <a:srgbClr val="153F31"/>
                    </a:solidFill>
                  </a:tcPr>
                </a:tc>
                <a:tc>
                  <a:txBody>
                    <a:bodyPr/>
                    <a:lstStyle/>
                    <a:p>
                      <a:r>
                        <a:rPr sz="2025" b="1">
                          <a:solidFill>
                            <a:srgbClr val="FFFFFF"/>
                          </a:solidFill>
                          <a:latin typeface="Arial"/>
                          <a:ea typeface="Arial"/>
                          <a:cs typeface="Arial"/>
                        </a:rPr>
                        <a:t>Planned outcome</a:t>
                      </a:r>
                    </a:p>
                  </a:txBody>
                  <a:tcPr anchor="ctr">
                    <a:solidFill>
                      <a:srgbClr val="153F31"/>
                    </a:solidFill>
                  </a:tcPr>
                </a:tc>
                <a:extLst>
                  <a:ext uri="{0D108BD9-81ED-4DB2-BD59-A6C34878D82A}">
                    <a16:rowId xmlns:a16="http://schemas.microsoft.com/office/drawing/2014/main" val="10000"/>
                  </a:ext>
                </a:extLst>
              </a:tr>
              <a:tr h="704850">
                <a:tc>
                  <a:txBody>
                    <a:bodyPr/>
                    <a:lstStyle/>
                    <a:p>
                      <a:r>
                        <a:rPr sz="2025" b="0">
                          <a:solidFill>
                            <a:srgbClr val="192C24"/>
                          </a:solidFill>
                          <a:latin typeface="Arial"/>
                          <a:ea typeface="Arial"/>
                          <a:cs typeface="Arial"/>
                        </a:rPr>
                        <a:t>Iteration 0</a:t>
                      </a:r>
                    </a:p>
                  </a:txBody>
                  <a:tcPr anchor="ctr">
                    <a:solidFill>
                      <a:srgbClr val="FFFFFF"/>
                    </a:solidFill>
                  </a:tcPr>
                </a:tc>
                <a:tc>
                  <a:txBody>
                    <a:bodyPr/>
                    <a:lstStyle/>
                    <a:p>
                      <a:r>
                        <a:rPr sz="2025" b="0">
                          <a:solidFill>
                            <a:srgbClr val="192C24"/>
                          </a:solidFill>
                          <a:latin typeface="Arial"/>
                          <a:ea typeface="Arial"/>
                          <a:cs typeface="Arial"/>
                        </a:rPr>
                        <a:t>Agree on the scope, requirements, and initial design.</a:t>
                      </a:r>
                    </a:p>
                  </a:txBody>
                  <a:tcPr anchor="ctr">
                    <a:solidFill>
                      <a:srgbClr val="FFFFFF"/>
                    </a:solidFill>
                  </a:tcPr>
                </a:tc>
                <a:extLst>
                  <a:ext uri="{0D108BD9-81ED-4DB2-BD59-A6C34878D82A}">
                    <a16:rowId xmlns:a16="http://schemas.microsoft.com/office/drawing/2014/main" val="10001"/>
                  </a:ext>
                </a:extLst>
              </a:tr>
              <a:tr h="704850">
                <a:tc>
                  <a:txBody>
                    <a:bodyPr/>
                    <a:lstStyle/>
                    <a:p>
                      <a:r>
                        <a:rPr sz="2025" b="0">
                          <a:solidFill>
                            <a:srgbClr val="192C24"/>
                          </a:solidFill>
                          <a:latin typeface="Arial"/>
                          <a:ea typeface="Arial"/>
                          <a:cs typeface="Arial"/>
                        </a:rPr>
                        <a:t>First prototype</a:t>
                      </a:r>
                    </a:p>
                  </a:txBody>
                  <a:tcPr anchor="ctr">
                    <a:solidFill>
                      <a:srgbClr val="EDF3EE"/>
                    </a:solidFill>
                  </a:tcPr>
                </a:tc>
                <a:tc>
                  <a:txBody>
                    <a:bodyPr/>
                    <a:lstStyle/>
                    <a:p>
                      <a:r>
                        <a:rPr sz="2025" b="0">
                          <a:solidFill>
                            <a:srgbClr val="192C24"/>
                          </a:solidFill>
                          <a:latin typeface="Arial"/>
                          <a:ea typeface="Arial"/>
                          <a:cs typeface="Arial"/>
                        </a:rPr>
                        <a:t>Show predictions for one selected stop.</a:t>
                      </a:r>
                    </a:p>
                  </a:txBody>
                  <a:tcPr anchor="ctr">
                    <a:solidFill>
                      <a:srgbClr val="EDF3EE"/>
                    </a:solidFill>
                  </a:tcPr>
                </a:tc>
                <a:extLst>
                  <a:ext uri="{0D108BD9-81ED-4DB2-BD59-A6C34878D82A}">
                    <a16:rowId xmlns:a16="http://schemas.microsoft.com/office/drawing/2014/main" val="10002"/>
                  </a:ext>
                </a:extLst>
              </a:tr>
              <a:tr h="704850">
                <a:tc>
                  <a:txBody>
                    <a:bodyPr/>
                    <a:lstStyle/>
                    <a:p>
                      <a:r>
                        <a:rPr sz="2025" b="0">
                          <a:solidFill>
                            <a:srgbClr val="192C24"/>
                          </a:solidFill>
                          <a:latin typeface="Arial"/>
                          <a:ea typeface="Arial"/>
                          <a:cs typeface="Arial"/>
                        </a:rPr>
                        <a:t>Feature build</a:t>
                      </a:r>
                    </a:p>
                  </a:txBody>
                  <a:tcPr anchor="ctr">
                    <a:solidFill>
                      <a:srgbClr val="FFFFFF"/>
                    </a:solidFill>
                  </a:tcPr>
                </a:tc>
                <a:tc>
                  <a:txBody>
                    <a:bodyPr/>
                    <a:lstStyle/>
                    <a:p>
                      <a:r>
                        <a:rPr sz="2025" b="0">
                          <a:solidFill>
                            <a:srgbClr val="192C24"/>
                          </a:solidFill>
                          <a:latin typeface="Arial"/>
                          <a:ea typeface="Arial"/>
                          <a:cs typeface="Arial"/>
                        </a:rPr>
                        <a:t>Add selection, alerts, favorites, and refresh behavior.</a:t>
                      </a:r>
                    </a:p>
                  </a:txBody>
                  <a:tcPr anchor="ctr">
                    <a:solidFill>
                      <a:srgbClr val="FFFFFF"/>
                    </a:solidFill>
                  </a:tcPr>
                </a:tc>
                <a:extLst>
                  <a:ext uri="{0D108BD9-81ED-4DB2-BD59-A6C34878D82A}">
                    <a16:rowId xmlns:a16="http://schemas.microsoft.com/office/drawing/2014/main" val="10003"/>
                  </a:ext>
                </a:extLst>
              </a:tr>
              <a:tr h="704850">
                <a:tc>
                  <a:txBody>
                    <a:bodyPr/>
                    <a:lstStyle/>
                    <a:p>
                      <a:r>
                        <a:rPr sz="2025" b="0">
                          <a:solidFill>
                            <a:srgbClr val="192C24"/>
                          </a:solidFill>
                          <a:latin typeface="Arial"/>
                          <a:ea typeface="Arial"/>
                          <a:cs typeface="Arial"/>
                        </a:rPr>
                        <a:t>Final checks</a:t>
                      </a:r>
                    </a:p>
                  </a:txBody>
                  <a:tcPr anchor="ctr">
                    <a:solidFill>
                      <a:srgbClr val="EDF3EE"/>
                    </a:solidFill>
                  </a:tcPr>
                </a:tc>
                <a:tc>
                  <a:txBody>
                    <a:bodyPr/>
                    <a:lstStyle/>
                    <a:p>
                      <a:r>
                        <a:rPr sz="2025" b="0">
                          <a:solidFill>
                            <a:srgbClr val="192C24"/>
                          </a:solidFill>
                          <a:latin typeface="Arial"/>
                          <a:ea typeface="Arial"/>
                          <a:cs typeface="Arial"/>
                        </a:rPr>
                        <a:t>Test failure cases, finish setup instructions, and demo.</a:t>
                      </a:r>
                    </a:p>
                  </a:txBody>
                  <a:tcPr anchor="ctr">
                    <a:solidFill>
                      <a:srgbClr val="EDF3EE"/>
                    </a:solidFill>
                  </a:tcPr>
                </a:tc>
                <a:extLst>
                  <a:ext uri="{0D108BD9-81ED-4DB2-BD59-A6C34878D82A}">
                    <a16:rowId xmlns:a16="http://schemas.microsoft.com/office/drawing/2014/main" val="10004"/>
                  </a:ext>
                </a:extLst>
              </a:tr>
            </a:tbl>
          </a:graphicData>
        </a:graphic>
      </p:graphicFrame>
      <p:sp>
        <p:nvSpPr>
          <p:cNvPr id="4" name="Suggested workflow: small GitHub tasks, branches, ">
            <a:extLst>
              <a:ext uri="{FF2B5EF4-FFF2-40B4-BE49-F238E27FC236}">
                <a16:creationId xmlns:a16="http://schemas.microsoft.com/office/drawing/2014/main" id="{7D447847-99D0-4466-8FAE-9F327E2B6933}"/>
              </a:ext>
            </a:extLst>
          </p:cNvPr>
          <p:cNvSpPr>
            <a:spLocks noGrp="1"/>
          </p:cNvSpPr>
          <p:nvPr/>
        </p:nvSpPr>
        <p:spPr>
          <a:xfrm>
            <a:off x="609600" y="5924550"/>
            <a:ext cx="10972800" cy="571500"/>
          </a:xfrm>
          <a:prstGeom prst="rect">
            <a:avLst/>
          </a:prstGeom>
          <a:noFill/>
          <a:ln w="0">
            <a:noFill/>
          </a:ln>
        </p:spPr>
        <p:txBody>
          <a:bodyPr wrap="square" lIns="0" tIns="0" rIns="0" bIns="0" anchor="t">
            <a:noAutofit/>
          </a:bodyPr>
          <a:lstStyle/>
          <a:p>
            <a:pPr algn="l">
              <a:defRPr sz="1875" b="0">
                <a:solidFill>
                  <a:srgbClr val="54665C"/>
                </a:solidFill>
                <a:latin typeface="Arial"/>
                <a:ea typeface="Arial"/>
                <a:cs typeface="Arial"/>
              </a:defRPr>
            </a:pPr>
            <a:r>
              <a:rPr sz="1875" b="0">
                <a:solidFill>
                  <a:srgbClr val="54665C"/>
                </a:solidFill>
                <a:latin typeface="Arial"/>
                <a:ea typeface="Arial"/>
                <a:cs typeface="Arial"/>
              </a:rPr>
              <a:t>Suggested workflow: small GitHub tasks, branches, and review before merging.</a:t>
            </a:r>
          </a:p>
        </p:txBody>
      </p:sp>
    </p:spTree>
    <p:extLst>
      <p:ext uri="{BB962C8B-B14F-4D97-AF65-F5344CB8AC3E}">
        <p14:creationId xmlns:p14="http://schemas.microsoft.com/office/powerpoint/2010/main" val="421573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3F31"/>
        </a:solidFill>
        <a:effectLst/>
      </p:bgPr>
    </p:bg>
    <p:spTree>
      <p:nvGrpSpPr>
        <p:cNvPr id="1" name=""/>
        <p:cNvGrpSpPr/>
        <p:nvPr/>
      </p:nvGrpSpPr>
      <p:grpSpPr>
        <a:xfrm>
          <a:off x="0" y="0"/>
          <a:ext cx="0" cy="0"/>
          <a:chOff x="0" y="0"/>
          <a:chExt cx="0" cy="0"/>
        </a:xfrm>
      </p:grpSpPr>
      <p:sp>
        <p:nvSpPr>
          <p:cNvPr id="8" name="Iteration 0 status">
            <a:extLst>
              <a:ext uri="{FF2B5EF4-FFF2-40B4-BE49-F238E27FC236}">
                <a16:creationId xmlns:a16="http://schemas.microsoft.com/office/drawing/2014/main" id="{93949673-C94C-4F1F-8CC6-23BF9B2E16E3}"/>
              </a:ext>
            </a:extLst>
          </p:cNvPr>
          <p:cNvSpPr>
            <a:spLocks noGrp="1"/>
          </p:cNvSpPr>
          <p:nvPr/>
        </p:nvSpPr>
        <p:spPr>
          <a:xfrm>
            <a:off x="609600" y="476250"/>
            <a:ext cx="10972800" cy="723900"/>
          </a:xfrm>
          <a:prstGeom prst="rect">
            <a:avLst/>
          </a:prstGeom>
          <a:noFill/>
          <a:ln w="0">
            <a:noFill/>
          </a:ln>
        </p:spPr>
        <p:txBody>
          <a:bodyPr wrap="square" lIns="0" tIns="0" rIns="0" bIns="0" anchor="t">
            <a:noAutofit/>
          </a:bodyPr>
          <a:lstStyle/>
          <a:p>
            <a:pPr algn="l">
              <a:defRPr sz="3450" b="1">
                <a:solidFill>
                  <a:srgbClr val="FFFFFF"/>
                </a:solidFill>
                <a:latin typeface="Arial"/>
                <a:ea typeface="Arial"/>
                <a:cs typeface="Arial"/>
              </a:defRPr>
            </a:pPr>
            <a:r>
              <a:rPr sz="3450" b="1">
                <a:solidFill>
                  <a:srgbClr val="FFFFFF"/>
                </a:solidFill>
                <a:latin typeface="Arial"/>
                <a:ea typeface="Arial"/>
                <a:cs typeface="Arial"/>
              </a:rPr>
              <a:t>Iteration 0 status</a:t>
            </a:r>
          </a:p>
        </p:txBody>
      </p:sp>
      <p:sp>
        <p:nvSpPr>
          <p:cNvPr id="2" name="Decided">
            <a:extLst>
              <a:ext uri="{FF2B5EF4-FFF2-40B4-BE49-F238E27FC236}">
                <a16:creationId xmlns:a16="http://schemas.microsoft.com/office/drawing/2014/main" id="{FDB8E0C5-7D33-4638-807D-4396E1534B22}"/>
              </a:ext>
            </a:extLst>
          </p:cNvPr>
          <p:cNvSpPr>
            <a:spLocks noGrp="1"/>
          </p:cNvSpPr>
          <p:nvPr/>
        </p:nvSpPr>
        <p:spPr>
          <a:xfrm>
            <a:off x="609600" y="1809750"/>
            <a:ext cx="4857750" cy="495300"/>
          </a:xfrm>
          <a:prstGeom prst="rect">
            <a:avLst/>
          </a:prstGeom>
          <a:noFill/>
          <a:ln w="0">
            <a:noFill/>
          </a:ln>
        </p:spPr>
        <p:txBody>
          <a:bodyPr wrap="square" lIns="0" tIns="0" rIns="0" bIns="0" anchor="t">
            <a:noAutofit/>
          </a:bodyPr>
          <a:lstStyle/>
          <a:p>
            <a:pPr algn="l">
              <a:defRPr sz="2325" b="1">
                <a:solidFill>
                  <a:srgbClr val="BEE1C7"/>
                </a:solidFill>
                <a:latin typeface="Arial"/>
                <a:ea typeface="Arial"/>
                <a:cs typeface="Arial"/>
              </a:defRPr>
            </a:pPr>
            <a:r>
              <a:rPr sz="2325" b="1">
                <a:solidFill>
                  <a:srgbClr val="BEE1C7"/>
                </a:solidFill>
                <a:latin typeface="Arial"/>
                <a:ea typeface="Arial"/>
                <a:cs typeface="Arial"/>
              </a:rPr>
              <a:t>Decided</a:t>
            </a:r>
          </a:p>
        </p:txBody>
      </p:sp>
      <p:sp>
        <p:nvSpPr>
          <p:cNvPr id="3" name="Rectangle 2">
            <a:extLst>
              <a:ext uri="{FF2B5EF4-FFF2-40B4-BE49-F238E27FC236}">
                <a16:creationId xmlns:a16="http://schemas.microsoft.com/office/drawing/2014/main" id="{5060E1AE-DE3B-436D-B899-42D94AC2B667}"/>
              </a:ext>
            </a:extLst>
          </p:cNvPr>
          <p:cNvSpPr>
            <a:spLocks noGrp="1"/>
          </p:cNvSpPr>
          <p:nvPr/>
        </p:nvSpPr>
        <p:spPr>
          <a:xfrm>
            <a:off x="609600" y="2533650"/>
            <a:ext cx="5000625" cy="2514600"/>
          </a:xfrm>
          <a:prstGeom prst="rect">
            <a:avLst/>
          </a:prstGeom>
          <a:noFill/>
          <a:ln w="0">
            <a:noFill/>
          </a:ln>
        </p:spPr>
        <p:txBody>
          <a:bodyPr wrap="square" lIns="0" tIns="0" rIns="0" bIns="0" anchor="t">
            <a:noAutofit/>
          </a:bodyPr>
          <a:lstStyle/>
          <a:p>
            <a:pPr marL="241300" indent="-127000" algn="l">
              <a:spcAft>
                <a:spcPts val="1900"/>
              </a:spcAft>
              <a:buChar char="•"/>
              <a:defRPr sz="2175" b="0">
                <a:solidFill>
                  <a:srgbClr val="FFFFFF"/>
                </a:solidFill>
                <a:latin typeface="Arial"/>
                <a:ea typeface="Arial"/>
                <a:cs typeface="Arial"/>
              </a:defRPr>
            </a:pPr>
            <a:r>
              <a:rPr sz="2175" b="0">
                <a:solidFill>
                  <a:srgbClr val="FFFFFF"/>
                </a:solidFill>
                <a:latin typeface="Arial"/>
                <a:ea typeface="Arial"/>
                <a:cs typeface="Arial"/>
              </a:rPr>
              <a:t>Five members in Team 2</a:t>
            </a:r>
          </a:p>
          <a:p>
            <a:pPr marL="241300" indent="-127000" algn="l">
              <a:spcAft>
                <a:spcPts val="1900"/>
              </a:spcAft>
              <a:buChar char="•"/>
              <a:defRPr sz="2175" b="0">
                <a:solidFill>
                  <a:srgbClr val="FFFFFF"/>
                </a:solidFill>
                <a:latin typeface="Arial"/>
                <a:ea typeface="Arial"/>
                <a:cs typeface="Arial"/>
              </a:defRPr>
            </a:pPr>
            <a:r>
              <a:rPr sz="2175" b="0">
                <a:solidFill>
                  <a:srgbClr val="FFFFFF"/>
                </a:solidFill>
                <a:latin typeface="Arial"/>
                <a:ea typeface="Arial"/>
                <a:cs typeface="Arial"/>
              </a:rPr>
              <a:t>MBTA tracker project</a:t>
            </a:r>
          </a:p>
          <a:p>
            <a:pPr marL="241300" indent="-127000" algn="l">
              <a:spcAft>
                <a:spcPts val="1900"/>
              </a:spcAft>
              <a:buChar char="•"/>
              <a:defRPr sz="2175" b="0">
                <a:solidFill>
                  <a:srgbClr val="FFFFFF"/>
                </a:solidFill>
                <a:latin typeface="Arial"/>
                <a:ea typeface="Arial"/>
                <a:cs typeface="Arial"/>
              </a:defRPr>
            </a:pPr>
            <a:r>
              <a:rPr sz="2175" b="0">
                <a:solidFill>
                  <a:srgbClr val="FFFFFF"/>
                </a:solidFill>
                <a:latin typeface="Arial"/>
                <a:ea typeface="Arial"/>
                <a:cs typeface="Arial"/>
              </a:rPr>
              <a:t>Official MBTA API</a:t>
            </a:r>
          </a:p>
          <a:p>
            <a:pPr marL="241300" indent="-127000" algn="l">
              <a:spcAft>
                <a:spcPts val="1900"/>
              </a:spcAft>
              <a:buChar char="•"/>
              <a:defRPr sz="2175" b="0">
                <a:solidFill>
                  <a:srgbClr val="FFFFFF"/>
                </a:solidFill>
                <a:latin typeface="Arial"/>
                <a:ea typeface="Arial"/>
                <a:cs typeface="Arial"/>
              </a:defRPr>
            </a:pPr>
            <a:r>
              <a:rPr sz="2175" b="0">
                <a:solidFill>
                  <a:srgbClr val="FFFFFF"/>
                </a:solidFill>
                <a:latin typeface="Arial"/>
                <a:ea typeface="Arial"/>
                <a:cs typeface="Arial"/>
              </a:rPr>
              <a:t>Roles chosen by the group</a:t>
            </a:r>
          </a:p>
        </p:txBody>
      </p:sp>
      <p:sp>
        <p:nvSpPr>
          <p:cNvPr id="4" name="Next decisions">
            <a:extLst>
              <a:ext uri="{FF2B5EF4-FFF2-40B4-BE49-F238E27FC236}">
                <a16:creationId xmlns:a16="http://schemas.microsoft.com/office/drawing/2014/main" id="{4C98774B-2FE2-40D2-8E50-156DB2CEEA72}"/>
              </a:ext>
            </a:extLst>
          </p:cNvPr>
          <p:cNvSpPr>
            <a:spLocks noGrp="1"/>
          </p:cNvSpPr>
          <p:nvPr/>
        </p:nvSpPr>
        <p:spPr>
          <a:xfrm>
            <a:off x="6629400" y="1809750"/>
            <a:ext cx="4953000" cy="495300"/>
          </a:xfrm>
          <a:prstGeom prst="rect">
            <a:avLst/>
          </a:prstGeom>
          <a:noFill/>
          <a:ln w="0">
            <a:noFill/>
          </a:ln>
        </p:spPr>
        <p:txBody>
          <a:bodyPr wrap="square" lIns="0" tIns="0" rIns="0" bIns="0" anchor="t">
            <a:noAutofit/>
          </a:bodyPr>
          <a:lstStyle/>
          <a:p>
            <a:pPr algn="l">
              <a:defRPr sz="2325" b="1">
                <a:solidFill>
                  <a:srgbClr val="BEE1C7"/>
                </a:solidFill>
                <a:latin typeface="Arial"/>
                <a:ea typeface="Arial"/>
                <a:cs typeface="Arial"/>
              </a:defRPr>
            </a:pPr>
            <a:r>
              <a:rPr sz="2325" b="1">
                <a:solidFill>
                  <a:srgbClr val="BEE1C7"/>
                </a:solidFill>
                <a:latin typeface="Arial"/>
                <a:ea typeface="Arial"/>
                <a:cs typeface="Arial"/>
              </a:rPr>
              <a:t>Next decisions</a:t>
            </a:r>
          </a:p>
        </p:txBody>
      </p:sp>
      <p:sp>
        <p:nvSpPr>
          <p:cNvPr id="5" name="Rectangle 4">
            <a:extLst>
              <a:ext uri="{FF2B5EF4-FFF2-40B4-BE49-F238E27FC236}">
                <a16:creationId xmlns:a16="http://schemas.microsoft.com/office/drawing/2014/main" id="{197CB9A5-F445-4580-B3F1-74671CFE6AB6}"/>
              </a:ext>
            </a:extLst>
          </p:cNvPr>
          <p:cNvSpPr>
            <a:spLocks noGrp="1"/>
          </p:cNvSpPr>
          <p:nvPr/>
        </p:nvSpPr>
        <p:spPr>
          <a:xfrm>
            <a:off x="6629400" y="2533650"/>
            <a:ext cx="4953000" cy="2514600"/>
          </a:xfrm>
          <a:prstGeom prst="rect">
            <a:avLst/>
          </a:prstGeom>
          <a:noFill/>
          <a:ln w="0">
            <a:noFill/>
          </a:ln>
        </p:spPr>
        <p:txBody>
          <a:bodyPr wrap="square" lIns="0" tIns="0" rIns="0" bIns="0" anchor="t">
            <a:noAutofit/>
          </a:bodyPr>
          <a:lstStyle/>
          <a:p>
            <a:pPr marL="241300" indent="-127000" algn="l">
              <a:spcAft>
                <a:spcPts val="1900"/>
              </a:spcAft>
              <a:buChar char="•"/>
              <a:defRPr sz="2175" b="0">
                <a:solidFill>
                  <a:srgbClr val="FFFFFF"/>
                </a:solidFill>
                <a:latin typeface="Arial"/>
                <a:ea typeface="Arial"/>
                <a:cs typeface="Arial"/>
              </a:defRPr>
            </a:pPr>
            <a:r>
              <a:rPr sz="2175" b="0">
                <a:solidFill>
                  <a:srgbClr val="FFFFFF"/>
                </a:solidFill>
                <a:latin typeface="Arial"/>
                <a:ea typeface="Arial"/>
                <a:cs typeface="Arial"/>
              </a:rPr>
              <a:t>Confirm initial route coverage</a:t>
            </a:r>
          </a:p>
          <a:p>
            <a:pPr marL="241300" indent="-127000" algn="l">
              <a:spcAft>
                <a:spcPts val="1900"/>
              </a:spcAft>
              <a:buChar char="•"/>
              <a:defRPr sz="2175" b="0">
                <a:solidFill>
                  <a:srgbClr val="FFFFFF"/>
                </a:solidFill>
                <a:latin typeface="Arial"/>
                <a:ea typeface="Arial"/>
                <a:cs typeface="Arial"/>
              </a:defRPr>
            </a:pPr>
            <a:r>
              <a:rPr sz="2175" b="0">
                <a:solidFill>
                  <a:srgbClr val="FFFFFF"/>
                </a:solidFill>
                <a:latin typeface="Arial"/>
                <a:ea typeface="Arial"/>
                <a:cs typeface="Arial"/>
              </a:rPr>
              <a:t>Agree on the tech stack</a:t>
            </a:r>
          </a:p>
          <a:p>
            <a:pPr marL="241300" indent="-127000" algn="l">
              <a:spcAft>
                <a:spcPts val="1900"/>
              </a:spcAft>
              <a:buChar char="•"/>
              <a:defRPr sz="2175" b="0">
                <a:solidFill>
                  <a:srgbClr val="FFFFFF"/>
                </a:solidFill>
                <a:latin typeface="Arial"/>
                <a:ea typeface="Arial"/>
                <a:cs typeface="Arial"/>
              </a:defRPr>
            </a:pPr>
            <a:r>
              <a:rPr sz="2175" b="0">
                <a:solidFill>
                  <a:srgbClr val="FFFFFF"/>
                </a:solidFill>
                <a:latin typeface="Arial"/>
                <a:ea typeface="Arial"/>
                <a:cs typeface="Arial"/>
              </a:rPr>
              <a:t>Finalize requirements and a screen sketch</a:t>
            </a:r>
          </a:p>
        </p:txBody>
      </p:sp>
      <p:sp>
        <p:nvSpPr>
          <p:cNvPr id="6" name="Next milestone">
            <a:extLst>
              <a:ext uri="{FF2B5EF4-FFF2-40B4-BE49-F238E27FC236}">
                <a16:creationId xmlns:a16="http://schemas.microsoft.com/office/drawing/2014/main" id="{AA9FAAB8-52A0-4988-A661-26D3182ED44F}"/>
              </a:ext>
            </a:extLst>
          </p:cNvPr>
          <p:cNvSpPr>
            <a:spLocks noGrp="1"/>
          </p:cNvSpPr>
          <p:nvPr/>
        </p:nvSpPr>
        <p:spPr>
          <a:xfrm>
            <a:off x="609600" y="5381625"/>
            <a:ext cx="10972800" cy="419100"/>
          </a:xfrm>
          <a:prstGeom prst="rect">
            <a:avLst/>
          </a:prstGeom>
          <a:noFill/>
          <a:ln w="0">
            <a:noFill/>
          </a:ln>
        </p:spPr>
        <p:txBody>
          <a:bodyPr wrap="square" lIns="0" tIns="0" rIns="0" bIns="0" anchor="t">
            <a:noAutofit/>
          </a:bodyPr>
          <a:lstStyle/>
          <a:p>
            <a:pPr algn="l">
              <a:defRPr sz="2025" b="1">
                <a:solidFill>
                  <a:srgbClr val="BEE1C7"/>
                </a:solidFill>
                <a:latin typeface="Arial"/>
                <a:ea typeface="Arial"/>
                <a:cs typeface="Arial"/>
              </a:defRPr>
            </a:pPr>
            <a:r>
              <a:rPr sz="2025" b="1">
                <a:solidFill>
                  <a:srgbClr val="BEE1C7"/>
                </a:solidFill>
                <a:latin typeface="Arial"/>
                <a:ea typeface="Arial"/>
                <a:cs typeface="Arial"/>
              </a:rPr>
              <a:t>Next milestone</a:t>
            </a:r>
          </a:p>
        </p:txBody>
      </p:sp>
      <p:sp>
        <p:nvSpPr>
          <p:cNvPr id="7" name="A working screen that shows arrivals for one selec">
            <a:extLst>
              <a:ext uri="{FF2B5EF4-FFF2-40B4-BE49-F238E27FC236}">
                <a16:creationId xmlns:a16="http://schemas.microsoft.com/office/drawing/2014/main" id="{ABCC4608-5DE7-4A50-AA3B-2C896527830C}"/>
              </a:ext>
            </a:extLst>
          </p:cNvPr>
          <p:cNvSpPr>
            <a:spLocks noGrp="1"/>
          </p:cNvSpPr>
          <p:nvPr/>
        </p:nvSpPr>
        <p:spPr>
          <a:xfrm>
            <a:off x="609600" y="5943600"/>
            <a:ext cx="10972800" cy="542925"/>
          </a:xfrm>
          <a:prstGeom prst="rect">
            <a:avLst/>
          </a:prstGeom>
          <a:noFill/>
          <a:ln w="0">
            <a:noFill/>
          </a:ln>
        </p:spPr>
        <p:txBody>
          <a:bodyPr wrap="square" lIns="0" tIns="0" rIns="0" bIns="0" anchor="t">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A working screen that shows arrivals for one selected stop.</a:t>
            </a:r>
          </a:p>
        </p:txBody>
      </p:sp>
    </p:spTree>
    <p:extLst>
      <p:ext uri="{BB962C8B-B14F-4D97-AF65-F5344CB8AC3E}">
        <p14:creationId xmlns:p14="http://schemas.microsoft.com/office/powerpoint/2010/main" val="198937377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1827</Words>
  <Application>Microsoft Office PowerPoint</Application>
  <DocSecurity>0</DocSecurity>
  <PresentationFormat>Widescreen</PresentationFormat>
  <Paragraphs>196</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Tran, The Anh</cp:lastModifiedBy>
  <cp:revision>4</cp:revision>
  <dcterms:created xsi:type="dcterms:W3CDTF">2026-09-27T21:40:37Z</dcterms:created>
  <dcterms:modified xsi:type="dcterms:W3CDTF">2026-09-29T16:21:09Z</dcterms:modified>
</cp:coreProperties>
</file>